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2" r:id="rId2"/>
  </p:sldMasterIdLst>
  <p:sldIdLst>
    <p:sldId id="294" r:id="rId3"/>
    <p:sldId id="352" r:id="rId4"/>
    <p:sldId id="363" r:id="rId5"/>
    <p:sldId id="347" r:id="rId6"/>
    <p:sldId id="364" r:id="rId7"/>
    <p:sldId id="327" r:id="rId8"/>
    <p:sldId id="324" r:id="rId9"/>
    <p:sldId id="292" r:id="rId10"/>
    <p:sldId id="296" r:id="rId11"/>
    <p:sldId id="297" r:id="rId12"/>
    <p:sldId id="333" r:id="rId13"/>
    <p:sldId id="325" r:id="rId14"/>
    <p:sldId id="336" r:id="rId15"/>
    <p:sldId id="351" r:id="rId16"/>
    <p:sldId id="305" r:id="rId17"/>
    <p:sldId id="320" r:id="rId18"/>
    <p:sldId id="310" r:id="rId19"/>
    <p:sldId id="311" r:id="rId20"/>
    <p:sldId id="321" r:id="rId21"/>
    <p:sldId id="323" r:id="rId22"/>
    <p:sldId id="365" r:id="rId23"/>
    <p:sldId id="367" r:id="rId24"/>
    <p:sldId id="322" r:id="rId25"/>
  </p:sldIdLst>
  <p:sldSz cx="9144000" cy="6858000" type="screen4x3"/>
  <p:notesSz cx="6858000" cy="9144000"/>
  <p:defaultTextStyle>
    <a:defPPr>
      <a:defRPr lang="en-US"/>
    </a:defPPr>
    <a:lvl1pPr marL="0" algn="l" defTabSz="457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90" algn="l" defTabSz="457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80" algn="l" defTabSz="457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70" algn="l" defTabSz="457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60" algn="l" defTabSz="457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50" algn="l" defTabSz="457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40" algn="l" defTabSz="457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9" algn="l" defTabSz="457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20" algn="l" defTabSz="457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4681" autoAdjust="0"/>
  </p:normalViewPr>
  <p:slideViewPr>
    <p:cSldViewPr snapToGrid="0" snapToObjects="1">
      <p:cViewPr varScale="1">
        <p:scale>
          <a:sx n="115" d="100"/>
          <a:sy n="115" d="100"/>
        </p:scale>
        <p:origin x="181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663044-1306-47A8-AB6E-E91E2240CEDC}" type="doc">
      <dgm:prSet loTypeId="urn:microsoft.com/office/officeart/2005/8/layout/process3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pl-PL"/>
        </a:p>
      </dgm:t>
    </dgm:pt>
    <dgm:pt modelId="{BA037DD1-8878-49C4-8395-51DBB8854E81}">
      <dgm:prSet custT="1"/>
      <dgm:spPr/>
      <dgm:t>
        <a:bodyPr/>
        <a:lstStyle/>
        <a:p>
          <a:r>
            <a:rPr lang="pl-PL" sz="1600" dirty="0"/>
            <a:t>Predykcyjny / </a:t>
          </a:r>
          <a:r>
            <a:rPr lang="pl-PL" sz="1600" dirty="0" err="1"/>
            <a:t>Waterfall</a:t>
          </a:r>
          <a:endParaRPr lang="pl-PL" sz="1600" dirty="0"/>
        </a:p>
      </dgm:t>
    </dgm:pt>
    <dgm:pt modelId="{7D835FEC-78FE-443F-9BCB-27727D44B70D}" type="parTrans" cxnId="{A062DE6A-1658-41ED-84B3-F4AF3EF8BE40}">
      <dgm:prSet/>
      <dgm:spPr/>
      <dgm:t>
        <a:bodyPr/>
        <a:lstStyle/>
        <a:p>
          <a:endParaRPr lang="pl-PL"/>
        </a:p>
      </dgm:t>
    </dgm:pt>
    <dgm:pt modelId="{D7D0B4CD-0A54-4A3D-BED0-A8060DB0E791}" type="sibTrans" cxnId="{A062DE6A-1658-41ED-84B3-F4AF3EF8BE40}">
      <dgm:prSet/>
      <dgm:spPr/>
      <dgm:t>
        <a:bodyPr/>
        <a:lstStyle/>
        <a:p>
          <a:endParaRPr lang="pl-PL"/>
        </a:p>
      </dgm:t>
    </dgm:pt>
    <dgm:pt modelId="{A7F44D21-9289-48D4-BCA3-EBF1AD0E43B2}">
      <dgm:prSet custT="1"/>
      <dgm:spPr/>
      <dgm:t>
        <a:bodyPr/>
        <a:lstStyle/>
        <a:p>
          <a:r>
            <a:rPr lang="pl-PL" sz="1600" dirty="0"/>
            <a:t>Iteracyjny</a:t>
          </a:r>
        </a:p>
      </dgm:t>
    </dgm:pt>
    <dgm:pt modelId="{FA19C485-E8DC-493A-A425-2F274ABBF6E4}" type="parTrans" cxnId="{DCDC6692-8054-426B-9785-1AC39DA748B4}">
      <dgm:prSet/>
      <dgm:spPr/>
      <dgm:t>
        <a:bodyPr/>
        <a:lstStyle/>
        <a:p>
          <a:endParaRPr lang="pl-PL"/>
        </a:p>
      </dgm:t>
    </dgm:pt>
    <dgm:pt modelId="{F79FD85E-AF6D-49B0-8174-F9B9E95A6025}" type="sibTrans" cxnId="{DCDC6692-8054-426B-9785-1AC39DA748B4}">
      <dgm:prSet/>
      <dgm:spPr/>
      <dgm:t>
        <a:bodyPr/>
        <a:lstStyle/>
        <a:p>
          <a:endParaRPr lang="pl-PL"/>
        </a:p>
      </dgm:t>
    </dgm:pt>
    <dgm:pt modelId="{3C3EC70C-9C93-4997-A6BE-193D540D59F3}">
      <dgm:prSet custT="1"/>
      <dgm:spPr/>
      <dgm:t>
        <a:bodyPr/>
        <a:lstStyle/>
        <a:p>
          <a:r>
            <a:rPr lang="pl-PL" sz="1600" dirty="0"/>
            <a:t>Adaptacyjny / Agile</a:t>
          </a:r>
        </a:p>
      </dgm:t>
    </dgm:pt>
    <dgm:pt modelId="{E1511A2D-9EFA-4FED-A319-B142C5ED9E87}" type="parTrans" cxnId="{B2F4E640-615C-4FD6-95F8-80596AE2E0F8}">
      <dgm:prSet/>
      <dgm:spPr/>
      <dgm:t>
        <a:bodyPr/>
        <a:lstStyle/>
        <a:p>
          <a:endParaRPr lang="pl-PL"/>
        </a:p>
      </dgm:t>
    </dgm:pt>
    <dgm:pt modelId="{7520D55D-7ECD-41A6-9D9C-63B343E31194}" type="sibTrans" cxnId="{B2F4E640-615C-4FD6-95F8-80596AE2E0F8}">
      <dgm:prSet/>
      <dgm:spPr/>
      <dgm:t>
        <a:bodyPr/>
        <a:lstStyle/>
        <a:p>
          <a:endParaRPr lang="pl-PL"/>
        </a:p>
      </dgm:t>
    </dgm:pt>
    <dgm:pt modelId="{3D511CE0-887C-497E-9435-797AD85529B8}">
      <dgm:prSet/>
      <dgm:spPr/>
      <dgm:t>
        <a:bodyPr/>
        <a:lstStyle/>
        <a:p>
          <a:r>
            <a:rPr lang="pl-PL" dirty="0"/>
            <a:t>plan z góry, jedno wdrożenie, trudno zrobić zmianę</a:t>
          </a:r>
        </a:p>
      </dgm:t>
    </dgm:pt>
    <dgm:pt modelId="{5E4AB437-0454-4D80-9111-3D1DF18D5EAC}" type="parTrans" cxnId="{84CAB66C-1821-4C7B-A34A-C4E6EAF9DFEC}">
      <dgm:prSet/>
      <dgm:spPr/>
      <dgm:t>
        <a:bodyPr/>
        <a:lstStyle/>
        <a:p>
          <a:endParaRPr lang="pl-PL"/>
        </a:p>
      </dgm:t>
    </dgm:pt>
    <dgm:pt modelId="{F42181F2-3E85-4FEB-A46C-62B1F4BA8F52}" type="sibTrans" cxnId="{84CAB66C-1821-4C7B-A34A-C4E6EAF9DFEC}">
      <dgm:prSet/>
      <dgm:spPr/>
      <dgm:t>
        <a:bodyPr/>
        <a:lstStyle/>
        <a:p>
          <a:endParaRPr lang="pl-PL"/>
        </a:p>
      </dgm:t>
    </dgm:pt>
    <dgm:pt modelId="{5F29A5D1-20A8-4799-8DC5-2CA6C2139594}">
      <dgm:prSet/>
      <dgm:spPr/>
      <dgm:t>
        <a:bodyPr/>
        <a:lstStyle/>
        <a:p>
          <a:r>
            <a:rPr lang="pl-PL" dirty="0"/>
            <a:t>powtarzamy, by ulepszać ten sam produkt</a:t>
          </a:r>
        </a:p>
      </dgm:t>
    </dgm:pt>
    <dgm:pt modelId="{B59D37CB-7A91-4A38-8EF9-010E512FAA84}" type="parTrans" cxnId="{433590DE-7DD1-450D-AFF2-CD9485A705B8}">
      <dgm:prSet/>
      <dgm:spPr/>
      <dgm:t>
        <a:bodyPr/>
        <a:lstStyle/>
        <a:p>
          <a:endParaRPr lang="pl-PL"/>
        </a:p>
      </dgm:t>
    </dgm:pt>
    <dgm:pt modelId="{8B274EE7-AA83-4905-B148-52A8A95556F6}" type="sibTrans" cxnId="{433590DE-7DD1-450D-AFF2-CD9485A705B8}">
      <dgm:prSet/>
      <dgm:spPr/>
      <dgm:t>
        <a:bodyPr/>
        <a:lstStyle/>
        <a:p>
          <a:endParaRPr lang="pl-PL"/>
        </a:p>
      </dgm:t>
    </dgm:pt>
    <dgm:pt modelId="{A82A9598-A707-4239-ABD8-BFA154110FC8}">
      <dgm:prSet/>
      <dgm:spPr/>
      <dgm:t>
        <a:bodyPr/>
        <a:lstStyle/>
        <a:p>
          <a:r>
            <a:rPr lang="pl-PL" dirty="0"/>
            <a:t>dodajemy kolejne działające kawałki</a:t>
          </a:r>
        </a:p>
      </dgm:t>
    </dgm:pt>
    <dgm:pt modelId="{B90AE4D0-311F-4BBA-B66D-A4B0335F5AA9}" type="parTrans" cxnId="{B3286F70-D703-4965-9B3A-F324EE7D6660}">
      <dgm:prSet/>
      <dgm:spPr/>
      <dgm:t>
        <a:bodyPr/>
        <a:lstStyle/>
        <a:p>
          <a:endParaRPr lang="pl-PL"/>
        </a:p>
      </dgm:t>
    </dgm:pt>
    <dgm:pt modelId="{544C2312-72F9-4D2D-A802-1EE99AB93A01}" type="sibTrans" cxnId="{B3286F70-D703-4965-9B3A-F324EE7D6660}">
      <dgm:prSet/>
      <dgm:spPr/>
      <dgm:t>
        <a:bodyPr/>
        <a:lstStyle/>
        <a:p>
          <a:endParaRPr lang="pl-PL"/>
        </a:p>
      </dgm:t>
    </dgm:pt>
    <dgm:pt modelId="{585DDC51-EF99-42C2-83DE-AFBABB6B8333}">
      <dgm:prSet/>
      <dgm:spPr/>
      <dgm:t>
        <a:bodyPr/>
        <a:lstStyle/>
        <a:p>
          <a:r>
            <a:rPr lang="pl-PL" dirty="0"/>
            <a:t>pracujemy iteracyjnie i przyrostowo, w krótkich cyklach z ciągłym feedbackiem</a:t>
          </a:r>
        </a:p>
      </dgm:t>
    </dgm:pt>
    <dgm:pt modelId="{0C2537EC-83A7-4858-9D3D-433378578598}" type="parTrans" cxnId="{E155CA5F-08AC-4968-AB27-38E0DE87F775}">
      <dgm:prSet/>
      <dgm:spPr/>
      <dgm:t>
        <a:bodyPr/>
        <a:lstStyle/>
        <a:p>
          <a:endParaRPr lang="pl-PL"/>
        </a:p>
      </dgm:t>
    </dgm:pt>
    <dgm:pt modelId="{6A9B1559-D3AA-4E43-8F5A-60E315CC3912}" type="sibTrans" cxnId="{E155CA5F-08AC-4968-AB27-38E0DE87F775}">
      <dgm:prSet/>
      <dgm:spPr/>
      <dgm:t>
        <a:bodyPr/>
        <a:lstStyle/>
        <a:p>
          <a:endParaRPr lang="pl-PL"/>
        </a:p>
      </dgm:t>
    </dgm:pt>
    <dgm:pt modelId="{730D9664-3F4D-4A4A-9275-A64DC57A0D90}">
      <dgm:prSet custT="1"/>
      <dgm:spPr/>
      <dgm:t>
        <a:bodyPr/>
        <a:lstStyle/>
        <a:p>
          <a:r>
            <a:rPr lang="pl-PL" sz="1600" dirty="0"/>
            <a:t>Przyrostowy (</a:t>
          </a:r>
          <a:r>
            <a:rPr lang="pl-PL" sz="1600" dirty="0" err="1"/>
            <a:t>Incremental</a:t>
          </a:r>
          <a:r>
            <a:rPr lang="pl-PL" sz="1600" dirty="0"/>
            <a:t>)</a:t>
          </a:r>
        </a:p>
      </dgm:t>
    </dgm:pt>
    <dgm:pt modelId="{23885E41-22C8-45ED-B14C-9086F21969C0}" type="sibTrans" cxnId="{7F653623-1657-4381-A368-D9B5036D99F8}">
      <dgm:prSet/>
      <dgm:spPr/>
      <dgm:t>
        <a:bodyPr/>
        <a:lstStyle/>
        <a:p>
          <a:endParaRPr lang="pl-PL"/>
        </a:p>
      </dgm:t>
    </dgm:pt>
    <dgm:pt modelId="{77E822F3-1B23-4000-AB87-97490B9FCEF4}" type="parTrans" cxnId="{7F653623-1657-4381-A368-D9B5036D99F8}">
      <dgm:prSet/>
      <dgm:spPr/>
      <dgm:t>
        <a:bodyPr/>
        <a:lstStyle/>
        <a:p>
          <a:endParaRPr lang="pl-PL"/>
        </a:p>
      </dgm:t>
    </dgm:pt>
    <dgm:pt modelId="{45A91B5B-60E6-4592-8004-A620C371FD7B}" type="pres">
      <dgm:prSet presAssocID="{C0663044-1306-47A8-AB6E-E91E2240CEDC}" presName="linearFlow" presStyleCnt="0">
        <dgm:presLayoutVars>
          <dgm:dir/>
          <dgm:animLvl val="lvl"/>
          <dgm:resizeHandles val="exact"/>
        </dgm:presLayoutVars>
      </dgm:prSet>
      <dgm:spPr/>
    </dgm:pt>
    <dgm:pt modelId="{DB08D2FF-072E-4389-82F5-FE70F73D8CD1}" type="pres">
      <dgm:prSet presAssocID="{BA037DD1-8878-49C4-8395-51DBB8854E81}" presName="composite" presStyleCnt="0"/>
      <dgm:spPr/>
    </dgm:pt>
    <dgm:pt modelId="{53A54F6F-4074-45EB-A258-CFDB9BD4F70C}" type="pres">
      <dgm:prSet presAssocID="{BA037DD1-8878-49C4-8395-51DBB8854E81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4EBEDB-CC82-4E6A-9B20-A3D8DAD04199}" type="pres">
      <dgm:prSet presAssocID="{BA037DD1-8878-49C4-8395-51DBB8854E81}" presName="parSh" presStyleLbl="node1" presStyleIdx="0" presStyleCnt="4"/>
      <dgm:spPr/>
    </dgm:pt>
    <dgm:pt modelId="{B10C2D4E-FA7F-44C9-9526-1525E8F2D6AA}" type="pres">
      <dgm:prSet presAssocID="{BA037DD1-8878-49C4-8395-51DBB8854E81}" presName="desTx" presStyleLbl="fgAcc1" presStyleIdx="0" presStyleCnt="4" custLinFactNeighborX="535" custLinFactNeighborY="6730">
        <dgm:presLayoutVars>
          <dgm:bulletEnabled val="1"/>
        </dgm:presLayoutVars>
      </dgm:prSet>
      <dgm:spPr/>
    </dgm:pt>
    <dgm:pt modelId="{47048284-B379-478C-B5F5-4737CCFD0A26}" type="pres">
      <dgm:prSet presAssocID="{D7D0B4CD-0A54-4A3D-BED0-A8060DB0E791}" presName="sibTrans" presStyleLbl="sibTrans2D1" presStyleIdx="0" presStyleCnt="3"/>
      <dgm:spPr/>
    </dgm:pt>
    <dgm:pt modelId="{22250AA6-ACE5-4D1B-A473-A4373CFB4F77}" type="pres">
      <dgm:prSet presAssocID="{D7D0B4CD-0A54-4A3D-BED0-A8060DB0E791}" presName="connTx" presStyleLbl="sibTrans2D1" presStyleIdx="0" presStyleCnt="3"/>
      <dgm:spPr/>
    </dgm:pt>
    <dgm:pt modelId="{C0586FD3-FEDE-4C55-A420-B668DBC738CE}" type="pres">
      <dgm:prSet presAssocID="{A7F44D21-9289-48D4-BCA3-EBF1AD0E43B2}" presName="composite" presStyleCnt="0"/>
      <dgm:spPr/>
    </dgm:pt>
    <dgm:pt modelId="{35C16735-67F0-41C7-9A7A-CAAD3C8AE2A4}" type="pres">
      <dgm:prSet presAssocID="{A7F44D21-9289-48D4-BCA3-EBF1AD0E43B2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8EED47D-7CE1-47C3-906E-53926A16A7AF}" type="pres">
      <dgm:prSet presAssocID="{A7F44D21-9289-48D4-BCA3-EBF1AD0E43B2}" presName="parSh" presStyleLbl="node1" presStyleIdx="1" presStyleCnt="4"/>
      <dgm:spPr/>
    </dgm:pt>
    <dgm:pt modelId="{7B3D315A-8844-4CFA-9B4F-388FF6DCF631}" type="pres">
      <dgm:prSet presAssocID="{A7F44D21-9289-48D4-BCA3-EBF1AD0E43B2}" presName="desTx" presStyleLbl="fgAcc1" presStyleIdx="1" presStyleCnt="4" custLinFactNeighborX="535" custLinFactNeighborY="5555">
        <dgm:presLayoutVars>
          <dgm:bulletEnabled val="1"/>
        </dgm:presLayoutVars>
      </dgm:prSet>
      <dgm:spPr/>
    </dgm:pt>
    <dgm:pt modelId="{9A1B395E-9189-4ECB-81B6-FF32EC8CA774}" type="pres">
      <dgm:prSet presAssocID="{F79FD85E-AF6D-49B0-8174-F9B9E95A6025}" presName="sibTrans" presStyleLbl="sibTrans2D1" presStyleIdx="1" presStyleCnt="3"/>
      <dgm:spPr/>
    </dgm:pt>
    <dgm:pt modelId="{B16B7F49-7F66-4BF0-B597-CF11ABDD0388}" type="pres">
      <dgm:prSet presAssocID="{F79FD85E-AF6D-49B0-8174-F9B9E95A6025}" presName="connTx" presStyleLbl="sibTrans2D1" presStyleIdx="1" presStyleCnt="3"/>
      <dgm:spPr/>
    </dgm:pt>
    <dgm:pt modelId="{3097E94E-E32A-43E6-932C-78847E362ADC}" type="pres">
      <dgm:prSet presAssocID="{730D9664-3F4D-4A4A-9275-A64DC57A0D90}" presName="composite" presStyleCnt="0"/>
      <dgm:spPr/>
    </dgm:pt>
    <dgm:pt modelId="{0FCBB389-FDD8-4220-B900-5F37A0A11132}" type="pres">
      <dgm:prSet presAssocID="{730D9664-3F4D-4A4A-9275-A64DC57A0D90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8EDE31F-3DEA-486E-BF69-3D7CDBF90126}" type="pres">
      <dgm:prSet presAssocID="{730D9664-3F4D-4A4A-9275-A64DC57A0D90}" presName="parSh" presStyleLbl="node1" presStyleIdx="2" presStyleCnt="4"/>
      <dgm:spPr/>
    </dgm:pt>
    <dgm:pt modelId="{4E3E02F5-3C26-455D-879B-31E21173E888}" type="pres">
      <dgm:prSet presAssocID="{730D9664-3F4D-4A4A-9275-A64DC57A0D90}" presName="desTx" presStyleLbl="fgAcc1" presStyleIdx="2" presStyleCnt="4" custLinFactNeighborX="-535" custLinFactNeighborY="5128">
        <dgm:presLayoutVars>
          <dgm:bulletEnabled val="1"/>
        </dgm:presLayoutVars>
      </dgm:prSet>
      <dgm:spPr/>
    </dgm:pt>
    <dgm:pt modelId="{AC283E2E-7487-46F5-9F62-AA30969AAB96}" type="pres">
      <dgm:prSet presAssocID="{23885E41-22C8-45ED-B14C-9086F21969C0}" presName="sibTrans" presStyleLbl="sibTrans2D1" presStyleIdx="2" presStyleCnt="3"/>
      <dgm:spPr/>
    </dgm:pt>
    <dgm:pt modelId="{E2062210-9A52-480D-8ACD-58E6DB3A41E2}" type="pres">
      <dgm:prSet presAssocID="{23885E41-22C8-45ED-B14C-9086F21969C0}" presName="connTx" presStyleLbl="sibTrans2D1" presStyleIdx="2" presStyleCnt="3"/>
      <dgm:spPr/>
    </dgm:pt>
    <dgm:pt modelId="{E9D41513-801A-42E2-B3F7-481078F61A8E}" type="pres">
      <dgm:prSet presAssocID="{3C3EC70C-9C93-4997-A6BE-193D540D59F3}" presName="composite" presStyleCnt="0"/>
      <dgm:spPr/>
    </dgm:pt>
    <dgm:pt modelId="{F0B8591B-0081-4904-B7BF-0B91F2170452}" type="pres">
      <dgm:prSet presAssocID="{3C3EC70C-9C93-4997-A6BE-193D540D59F3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235E61C-8FE6-4AC9-90A2-E1590E2EFE9C}" type="pres">
      <dgm:prSet presAssocID="{3C3EC70C-9C93-4997-A6BE-193D540D59F3}" presName="parSh" presStyleLbl="node1" presStyleIdx="3" presStyleCnt="4"/>
      <dgm:spPr/>
    </dgm:pt>
    <dgm:pt modelId="{46589094-6650-4178-9F1D-9D1DF30B4735}" type="pres">
      <dgm:prSet presAssocID="{3C3EC70C-9C93-4997-A6BE-193D540D59F3}" presName="desTx" presStyleLbl="fgAcc1" presStyleIdx="3" presStyleCnt="4" custLinFactNeighborX="80" custLinFactNeighborY="5243">
        <dgm:presLayoutVars>
          <dgm:bulletEnabled val="1"/>
        </dgm:presLayoutVars>
      </dgm:prSet>
      <dgm:spPr/>
    </dgm:pt>
  </dgm:ptLst>
  <dgm:cxnLst>
    <dgm:cxn modelId="{5F352B03-A8A4-4578-B3B5-79B280FFFB6D}" type="presOf" srcId="{3C3EC70C-9C93-4997-A6BE-193D540D59F3}" destId="{D235E61C-8FE6-4AC9-90A2-E1590E2EFE9C}" srcOrd="1" destOrd="0" presId="urn:microsoft.com/office/officeart/2005/8/layout/process3"/>
    <dgm:cxn modelId="{1FA5D213-4E22-4209-9503-BBD94519C813}" type="presOf" srcId="{D7D0B4CD-0A54-4A3D-BED0-A8060DB0E791}" destId="{47048284-B379-478C-B5F5-4737CCFD0A26}" srcOrd="0" destOrd="0" presId="urn:microsoft.com/office/officeart/2005/8/layout/process3"/>
    <dgm:cxn modelId="{CC64D91A-8404-4B1F-8A30-EBB841926B45}" type="presOf" srcId="{BA037DD1-8878-49C4-8395-51DBB8854E81}" destId="{53A54F6F-4074-45EB-A258-CFDB9BD4F70C}" srcOrd="0" destOrd="0" presId="urn:microsoft.com/office/officeart/2005/8/layout/process3"/>
    <dgm:cxn modelId="{7F653623-1657-4381-A368-D9B5036D99F8}" srcId="{C0663044-1306-47A8-AB6E-E91E2240CEDC}" destId="{730D9664-3F4D-4A4A-9275-A64DC57A0D90}" srcOrd="2" destOrd="0" parTransId="{77E822F3-1B23-4000-AB87-97490B9FCEF4}" sibTransId="{23885E41-22C8-45ED-B14C-9086F21969C0}"/>
    <dgm:cxn modelId="{D1BE4327-31CE-4FD7-86FE-FF8EA0BBA0D1}" type="presOf" srcId="{23885E41-22C8-45ED-B14C-9086F21969C0}" destId="{AC283E2E-7487-46F5-9F62-AA30969AAB96}" srcOrd="0" destOrd="0" presId="urn:microsoft.com/office/officeart/2005/8/layout/process3"/>
    <dgm:cxn modelId="{3540B93A-A688-4916-B53C-2F130D84075C}" type="presOf" srcId="{A7F44D21-9289-48D4-BCA3-EBF1AD0E43B2}" destId="{88EED47D-7CE1-47C3-906E-53926A16A7AF}" srcOrd="1" destOrd="0" presId="urn:microsoft.com/office/officeart/2005/8/layout/process3"/>
    <dgm:cxn modelId="{B2F4E640-615C-4FD6-95F8-80596AE2E0F8}" srcId="{C0663044-1306-47A8-AB6E-E91E2240CEDC}" destId="{3C3EC70C-9C93-4997-A6BE-193D540D59F3}" srcOrd="3" destOrd="0" parTransId="{E1511A2D-9EFA-4FED-A319-B142C5ED9E87}" sibTransId="{7520D55D-7ECD-41A6-9D9C-63B343E31194}"/>
    <dgm:cxn modelId="{5C845C5C-E752-459A-ACFA-FA45FD7941A5}" type="presOf" srcId="{C0663044-1306-47A8-AB6E-E91E2240CEDC}" destId="{45A91B5B-60E6-4592-8004-A620C371FD7B}" srcOrd="0" destOrd="0" presId="urn:microsoft.com/office/officeart/2005/8/layout/process3"/>
    <dgm:cxn modelId="{E155CA5F-08AC-4968-AB27-38E0DE87F775}" srcId="{3C3EC70C-9C93-4997-A6BE-193D540D59F3}" destId="{585DDC51-EF99-42C2-83DE-AFBABB6B8333}" srcOrd="0" destOrd="0" parTransId="{0C2537EC-83A7-4858-9D3D-433378578598}" sibTransId="{6A9B1559-D3AA-4E43-8F5A-60E315CC3912}"/>
    <dgm:cxn modelId="{97023E69-BCE8-444A-99B2-D92384ABBB66}" type="presOf" srcId="{D7D0B4CD-0A54-4A3D-BED0-A8060DB0E791}" destId="{22250AA6-ACE5-4D1B-A473-A4373CFB4F77}" srcOrd="1" destOrd="0" presId="urn:microsoft.com/office/officeart/2005/8/layout/process3"/>
    <dgm:cxn modelId="{A062DE6A-1658-41ED-84B3-F4AF3EF8BE40}" srcId="{C0663044-1306-47A8-AB6E-E91E2240CEDC}" destId="{BA037DD1-8878-49C4-8395-51DBB8854E81}" srcOrd="0" destOrd="0" parTransId="{7D835FEC-78FE-443F-9BCB-27727D44B70D}" sibTransId="{D7D0B4CD-0A54-4A3D-BED0-A8060DB0E791}"/>
    <dgm:cxn modelId="{84CAB66C-1821-4C7B-A34A-C4E6EAF9DFEC}" srcId="{BA037DD1-8878-49C4-8395-51DBB8854E81}" destId="{3D511CE0-887C-497E-9435-797AD85529B8}" srcOrd="0" destOrd="0" parTransId="{5E4AB437-0454-4D80-9111-3D1DF18D5EAC}" sibTransId="{F42181F2-3E85-4FEB-A46C-62B1F4BA8F52}"/>
    <dgm:cxn modelId="{018FFF4F-7202-4FFF-827E-E72879086AC8}" type="presOf" srcId="{F79FD85E-AF6D-49B0-8174-F9B9E95A6025}" destId="{9A1B395E-9189-4ECB-81B6-FF32EC8CA774}" srcOrd="0" destOrd="0" presId="urn:microsoft.com/office/officeart/2005/8/layout/process3"/>
    <dgm:cxn modelId="{B3286F70-D703-4965-9B3A-F324EE7D6660}" srcId="{730D9664-3F4D-4A4A-9275-A64DC57A0D90}" destId="{A82A9598-A707-4239-ABD8-BFA154110FC8}" srcOrd="0" destOrd="0" parTransId="{B90AE4D0-311F-4BBA-B66D-A4B0335F5AA9}" sibTransId="{544C2312-72F9-4D2D-A802-1EE99AB93A01}"/>
    <dgm:cxn modelId="{8EE6B276-8BA4-4A7F-A431-FB3FBFA04277}" type="presOf" srcId="{730D9664-3F4D-4A4A-9275-A64DC57A0D90}" destId="{38EDE31F-3DEA-486E-BF69-3D7CDBF90126}" srcOrd="1" destOrd="0" presId="urn:microsoft.com/office/officeart/2005/8/layout/process3"/>
    <dgm:cxn modelId="{24320C80-2F3D-4FEE-9546-4C126E9C4805}" type="presOf" srcId="{A82A9598-A707-4239-ABD8-BFA154110FC8}" destId="{4E3E02F5-3C26-455D-879B-31E21173E888}" srcOrd="0" destOrd="0" presId="urn:microsoft.com/office/officeart/2005/8/layout/process3"/>
    <dgm:cxn modelId="{854E6482-7A0C-45C9-B544-E429807B6AEF}" type="presOf" srcId="{A7F44D21-9289-48D4-BCA3-EBF1AD0E43B2}" destId="{35C16735-67F0-41C7-9A7A-CAAD3C8AE2A4}" srcOrd="0" destOrd="0" presId="urn:microsoft.com/office/officeart/2005/8/layout/process3"/>
    <dgm:cxn modelId="{25745889-4E65-436A-9226-4E4A5EA9CDD1}" type="presOf" srcId="{3C3EC70C-9C93-4997-A6BE-193D540D59F3}" destId="{F0B8591B-0081-4904-B7BF-0B91F2170452}" srcOrd="0" destOrd="0" presId="urn:microsoft.com/office/officeart/2005/8/layout/process3"/>
    <dgm:cxn modelId="{DCDC6692-8054-426B-9785-1AC39DA748B4}" srcId="{C0663044-1306-47A8-AB6E-E91E2240CEDC}" destId="{A7F44D21-9289-48D4-BCA3-EBF1AD0E43B2}" srcOrd="1" destOrd="0" parTransId="{FA19C485-E8DC-493A-A425-2F274ABBF6E4}" sibTransId="{F79FD85E-AF6D-49B0-8174-F9B9E95A6025}"/>
    <dgm:cxn modelId="{E67C4395-0AAE-45CC-A4BA-7D9876C0A09E}" type="presOf" srcId="{BA037DD1-8878-49C4-8395-51DBB8854E81}" destId="{444EBEDB-CC82-4E6A-9B20-A3D8DAD04199}" srcOrd="1" destOrd="0" presId="urn:microsoft.com/office/officeart/2005/8/layout/process3"/>
    <dgm:cxn modelId="{A1A050BD-03E8-4AAE-8CA8-05A04746BDE7}" type="presOf" srcId="{F79FD85E-AF6D-49B0-8174-F9B9E95A6025}" destId="{B16B7F49-7F66-4BF0-B597-CF11ABDD0388}" srcOrd="1" destOrd="0" presId="urn:microsoft.com/office/officeart/2005/8/layout/process3"/>
    <dgm:cxn modelId="{D08EC5C6-B38B-4829-A2F9-48114559174E}" type="presOf" srcId="{585DDC51-EF99-42C2-83DE-AFBABB6B8333}" destId="{46589094-6650-4178-9F1D-9D1DF30B4735}" srcOrd="0" destOrd="0" presId="urn:microsoft.com/office/officeart/2005/8/layout/process3"/>
    <dgm:cxn modelId="{EBCE81C7-FD1C-49A3-B3D0-8531E26D0EFD}" type="presOf" srcId="{23885E41-22C8-45ED-B14C-9086F21969C0}" destId="{E2062210-9A52-480D-8ACD-58E6DB3A41E2}" srcOrd="1" destOrd="0" presId="urn:microsoft.com/office/officeart/2005/8/layout/process3"/>
    <dgm:cxn modelId="{739F6ECA-F5FF-4C83-BE07-CD916D38470F}" type="presOf" srcId="{730D9664-3F4D-4A4A-9275-A64DC57A0D90}" destId="{0FCBB389-FDD8-4220-B900-5F37A0A11132}" srcOrd="0" destOrd="0" presId="urn:microsoft.com/office/officeart/2005/8/layout/process3"/>
    <dgm:cxn modelId="{5C4E26D1-D5B9-463F-9BB3-CB41228F3970}" type="presOf" srcId="{5F29A5D1-20A8-4799-8DC5-2CA6C2139594}" destId="{7B3D315A-8844-4CFA-9B4F-388FF6DCF631}" srcOrd="0" destOrd="0" presId="urn:microsoft.com/office/officeart/2005/8/layout/process3"/>
    <dgm:cxn modelId="{433590DE-7DD1-450D-AFF2-CD9485A705B8}" srcId="{A7F44D21-9289-48D4-BCA3-EBF1AD0E43B2}" destId="{5F29A5D1-20A8-4799-8DC5-2CA6C2139594}" srcOrd="0" destOrd="0" parTransId="{B59D37CB-7A91-4A38-8EF9-010E512FAA84}" sibTransId="{8B274EE7-AA83-4905-B148-52A8A95556F6}"/>
    <dgm:cxn modelId="{772A11DF-66D4-47F5-9B66-19A0A3D23B06}" type="presOf" srcId="{3D511CE0-887C-497E-9435-797AD85529B8}" destId="{B10C2D4E-FA7F-44C9-9526-1525E8F2D6AA}" srcOrd="0" destOrd="0" presId="urn:microsoft.com/office/officeart/2005/8/layout/process3"/>
    <dgm:cxn modelId="{4CC50FC8-01C2-47A7-A283-249736DBA037}" type="presParOf" srcId="{45A91B5B-60E6-4592-8004-A620C371FD7B}" destId="{DB08D2FF-072E-4389-82F5-FE70F73D8CD1}" srcOrd="0" destOrd="0" presId="urn:microsoft.com/office/officeart/2005/8/layout/process3"/>
    <dgm:cxn modelId="{15E70A80-67E8-4DDD-A6D4-E60AA88735F6}" type="presParOf" srcId="{DB08D2FF-072E-4389-82F5-FE70F73D8CD1}" destId="{53A54F6F-4074-45EB-A258-CFDB9BD4F70C}" srcOrd="0" destOrd="0" presId="urn:microsoft.com/office/officeart/2005/8/layout/process3"/>
    <dgm:cxn modelId="{AEDB42A2-04C1-4F7F-804D-A71532C48DA2}" type="presParOf" srcId="{DB08D2FF-072E-4389-82F5-FE70F73D8CD1}" destId="{444EBEDB-CC82-4E6A-9B20-A3D8DAD04199}" srcOrd="1" destOrd="0" presId="urn:microsoft.com/office/officeart/2005/8/layout/process3"/>
    <dgm:cxn modelId="{C0FB34B1-F93A-4E62-9D99-ECEB3920C5CB}" type="presParOf" srcId="{DB08D2FF-072E-4389-82F5-FE70F73D8CD1}" destId="{B10C2D4E-FA7F-44C9-9526-1525E8F2D6AA}" srcOrd="2" destOrd="0" presId="urn:microsoft.com/office/officeart/2005/8/layout/process3"/>
    <dgm:cxn modelId="{C2860EAB-FA05-485E-8A0B-5E84A7E50B17}" type="presParOf" srcId="{45A91B5B-60E6-4592-8004-A620C371FD7B}" destId="{47048284-B379-478C-B5F5-4737CCFD0A26}" srcOrd="1" destOrd="0" presId="urn:microsoft.com/office/officeart/2005/8/layout/process3"/>
    <dgm:cxn modelId="{628D256E-02DB-479F-A732-85622396978D}" type="presParOf" srcId="{47048284-B379-478C-B5F5-4737CCFD0A26}" destId="{22250AA6-ACE5-4D1B-A473-A4373CFB4F77}" srcOrd="0" destOrd="0" presId="urn:microsoft.com/office/officeart/2005/8/layout/process3"/>
    <dgm:cxn modelId="{7BB73725-7E73-43E8-B415-CD30DDC4ABDE}" type="presParOf" srcId="{45A91B5B-60E6-4592-8004-A620C371FD7B}" destId="{C0586FD3-FEDE-4C55-A420-B668DBC738CE}" srcOrd="2" destOrd="0" presId="urn:microsoft.com/office/officeart/2005/8/layout/process3"/>
    <dgm:cxn modelId="{3C07FB66-D804-4789-91AE-CC7D3ED7BAC7}" type="presParOf" srcId="{C0586FD3-FEDE-4C55-A420-B668DBC738CE}" destId="{35C16735-67F0-41C7-9A7A-CAAD3C8AE2A4}" srcOrd="0" destOrd="0" presId="urn:microsoft.com/office/officeart/2005/8/layout/process3"/>
    <dgm:cxn modelId="{03F76F6F-8C23-478A-A5E2-38C6DA423C2C}" type="presParOf" srcId="{C0586FD3-FEDE-4C55-A420-B668DBC738CE}" destId="{88EED47D-7CE1-47C3-906E-53926A16A7AF}" srcOrd="1" destOrd="0" presId="urn:microsoft.com/office/officeart/2005/8/layout/process3"/>
    <dgm:cxn modelId="{1320927A-2DD6-4643-B9D3-5DE423E67C48}" type="presParOf" srcId="{C0586FD3-FEDE-4C55-A420-B668DBC738CE}" destId="{7B3D315A-8844-4CFA-9B4F-388FF6DCF631}" srcOrd="2" destOrd="0" presId="urn:microsoft.com/office/officeart/2005/8/layout/process3"/>
    <dgm:cxn modelId="{75D947A9-6B15-4801-8634-DC2827E31691}" type="presParOf" srcId="{45A91B5B-60E6-4592-8004-A620C371FD7B}" destId="{9A1B395E-9189-4ECB-81B6-FF32EC8CA774}" srcOrd="3" destOrd="0" presId="urn:microsoft.com/office/officeart/2005/8/layout/process3"/>
    <dgm:cxn modelId="{18D13664-0412-4894-A676-9AFA2269E3F5}" type="presParOf" srcId="{9A1B395E-9189-4ECB-81B6-FF32EC8CA774}" destId="{B16B7F49-7F66-4BF0-B597-CF11ABDD0388}" srcOrd="0" destOrd="0" presId="urn:microsoft.com/office/officeart/2005/8/layout/process3"/>
    <dgm:cxn modelId="{24C6650D-7EFF-42DD-9949-E08911F50DA5}" type="presParOf" srcId="{45A91B5B-60E6-4592-8004-A620C371FD7B}" destId="{3097E94E-E32A-43E6-932C-78847E362ADC}" srcOrd="4" destOrd="0" presId="urn:microsoft.com/office/officeart/2005/8/layout/process3"/>
    <dgm:cxn modelId="{F51C84D6-77A4-4567-8335-877741399BAF}" type="presParOf" srcId="{3097E94E-E32A-43E6-932C-78847E362ADC}" destId="{0FCBB389-FDD8-4220-B900-5F37A0A11132}" srcOrd="0" destOrd="0" presId="urn:microsoft.com/office/officeart/2005/8/layout/process3"/>
    <dgm:cxn modelId="{768B077A-41A9-4D38-906E-78F1056C1310}" type="presParOf" srcId="{3097E94E-E32A-43E6-932C-78847E362ADC}" destId="{38EDE31F-3DEA-486E-BF69-3D7CDBF90126}" srcOrd="1" destOrd="0" presId="urn:microsoft.com/office/officeart/2005/8/layout/process3"/>
    <dgm:cxn modelId="{7AC75599-0423-442D-883A-7BA47D77D7F3}" type="presParOf" srcId="{3097E94E-E32A-43E6-932C-78847E362ADC}" destId="{4E3E02F5-3C26-455D-879B-31E21173E888}" srcOrd="2" destOrd="0" presId="urn:microsoft.com/office/officeart/2005/8/layout/process3"/>
    <dgm:cxn modelId="{65A134D5-798C-4294-A56A-C3C9F0021F60}" type="presParOf" srcId="{45A91B5B-60E6-4592-8004-A620C371FD7B}" destId="{AC283E2E-7487-46F5-9F62-AA30969AAB96}" srcOrd="5" destOrd="0" presId="urn:microsoft.com/office/officeart/2005/8/layout/process3"/>
    <dgm:cxn modelId="{46864FC3-1E2D-4541-96CC-B3D1FA940316}" type="presParOf" srcId="{AC283E2E-7487-46F5-9F62-AA30969AAB96}" destId="{E2062210-9A52-480D-8ACD-58E6DB3A41E2}" srcOrd="0" destOrd="0" presId="urn:microsoft.com/office/officeart/2005/8/layout/process3"/>
    <dgm:cxn modelId="{CD682313-FA39-468A-8622-0CBDB05885EA}" type="presParOf" srcId="{45A91B5B-60E6-4592-8004-A620C371FD7B}" destId="{E9D41513-801A-42E2-B3F7-481078F61A8E}" srcOrd="6" destOrd="0" presId="urn:microsoft.com/office/officeart/2005/8/layout/process3"/>
    <dgm:cxn modelId="{BE791BEF-8557-49F3-A358-393B92B62589}" type="presParOf" srcId="{E9D41513-801A-42E2-B3F7-481078F61A8E}" destId="{F0B8591B-0081-4904-B7BF-0B91F2170452}" srcOrd="0" destOrd="0" presId="urn:microsoft.com/office/officeart/2005/8/layout/process3"/>
    <dgm:cxn modelId="{669DD489-8C57-416E-B2ED-47F3658216FE}" type="presParOf" srcId="{E9D41513-801A-42E2-B3F7-481078F61A8E}" destId="{D235E61C-8FE6-4AC9-90A2-E1590E2EFE9C}" srcOrd="1" destOrd="0" presId="urn:microsoft.com/office/officeart/2005/8/layout/process3"/>
    <dgm:cxn modelId="{2DEC5283-FBA7-4278-BE6B-CA89B6242791}" type="presParOf" srcId="{E9D41513-801A-42E2-B3F7-481078F61A8E}" destId="{46589094-6650-4178-9F1D-9D1DF30B4735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4EBEDB-CC82-4E6A-9B20-A3D8DAD04199}">
      <dsp:nvSpPr>
        <dsp:cNvPr id="0" name=""/>
        <dsp:cNvSpPr/>
      </dsp:nvSpPr>
      <dsp:spPr>
        <a:xfrm>
          <a:off x="1133" y="263313"/>
          <a:ext cx="1424061" cy="648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Predykcyjny / </a:t>
          </a:r>
          <a:r>
            <a:rPr lang="pl-PL" sz="1600" kern="1200" dirty="0" err="1"/>
            <a:t>Waterfall</a:t>
          </a:r>
          <a:endParaRPr lang="pl-PL" sz="1600" kern="1200" dirty="0"/>
        </a:p>
      </dsp:txBody>
      <dsp:txXfrm>
        <a:off x="1133" y="263313"/>
        <a:ext cx="1424061" cy="432000"/>
      </dsp:txXfrm>
    </dsp:sp>
    <dsp:sp modelId="{B10C2D4E-FA7F-44C9-9526-1525E8F2D6AA}">
      <dsp:nvSpPr>
        <dsp:cNvPr id="0" name=""/>
        <dsp:cNvSpPr/>
      </dsp:nvSpPr>
      <dsp:spPr>
        <a:xfrm>
          <a:off x="300427" y="817172"/>
          <a:ext cx="1424061" cy="1810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kern="1200" dirty="0"/>
            <a:t>plan z góry, jedno wdrożenie, trudno zrobić zmianę</a:t>
          </a:r>
        </a:p>
      </dsp:txBody>
      <dsp:txXfrm>
        <a:off x="342136" y="858881"/>
        <a:ext cx="1340643" cy="1727269"/>
      </dsp:txXfrm>
    </dsp:sp>
    <dsp:sp modelId="{47048284-B379-478C-B5F5-4737CCFD0A26}">
      <dsp:nvSpPr>
        <dsp:cNvPr id="0" name=""/>
        <dsp:cNvSpPr/>
      </dsp:nvSpPr>
      <dsp:spPr>
        <a:xfrm>
          <a:off x="1641077" y="302038"/>
          <a:ext cx="457671" cy="35455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200" kern="1200"/>
        </a:p>
      </dsp:txBody>
      <dsp:txXfrm>
        <a:off x="1641077" y="372948"/>
        <a:ext cx="351306" cy="212730"/>
      </dsp:txXfrm>
    </dsp:sp>
    <dsp:sp modelId="{88EED47D-7CE1-47C3-906E-53926A16A7AF}">
      <dsp:nvSpPr>
        <dsp:cNvPr id="0" name=""/>
        <dsp:cNvSpPr/>
      </dsp:nvSpPr>
      <dsp:spPr>
        <a:xfrm>
          <a:off x="2288725" y="263313"/>
          <a:ext cx="1424061" cy="648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Iteracyjny</a:t>
          </a:r>
        </a:p>
      </dsp:txBody>
      <dsp:txXfrm>
        <a:off x="2288725" y="263313"/>
        <a:ext cx="1424061" cy="432000"/>
      </dsp:txXfrm>
    </dsp:sp>
    <dsp:sp modelId="{7B3D315A-8844-4CFA-9B4F-388FF6DCF631}">
      <dsp:nvSpPr>
        <dsp:cNvPr id="0" name=""/>
        <dsp:cNvSpPr/>
      </dsp:nvSpPr>
      <dsp:spPr>
        <a:xfrm>
          <a:off x="2588019" y="795896"/>
          <a:ext cx="1424061" cy="1810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kern="1200" dirty="0"/>
            <a:t>powtarzamy, by ulepszać ten sam produkt</a:t>
          </a:r>
        </a:p>
      </dsp:txBody>
      <dsp:txXfrm>
        <a:off x="2629728" y="837605"/>
        <a:ext cx="1340643" cy="1727269"/>
      </dsp:txXfrm>
    </dsp:sp>
    <dsp:sp modelId="{9A1B395E-9189-4ECB-81B6-FF32EC8CA774}">
      <dsp:nvSpPr>
        <dsp:cNvPr id="0" name=""/>
        <dsp:cNvSpPr/>
      </dsp:nvSpPr>
      <dsp:spPr>
        <a:xfrm>
          <a:off x="3928670" y="302038"/>
          <a:ext cx="457671" cy="35455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200" kern="1200"/>
        </a:p>
      </dsp:txBody>
      <dsp:txXfrm>
        <a:off x="3928670" y="372948"/>
        <a:ext cx="351306" cy="212730"/>
      </dsp:txXfrm>
    </dsp:sp>
    <dsp:sp modelId="{38EDE31F-3DEA-486E-BF69-3D7CDBF90126}">
      <dsp:nvSpPr>
        <dsp:cNvPr id="0" name=""/>
        <dsp:cNvSpPr/>
      </dsp:nvSpPr>
      <dsp:spPr>
        <a:xfrm>
          <a:off x="4576318" y="263313"/>
          <a:ext cx="1424061" cy="648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Przyrostowy (</a:t>
          </a:r>
          <a:r>
            <a:rPr lang="pl-PL" sz="1600" kern="1200" dirty="0" err="1"/>
            <a:t>Incremental</a:t>
          </a:r>
          <a:r>
            <a:rPr lang="pl-PL" sz="1600" kern="1200" dirty="0"/>
            <a:t>)</a:t>
          </a:r>
        </a:p>
      </dsp:txBody>
      <dsp:txXfrm>
        <a:off x="4576318" y="263313"/>
        <a:ext cx="1424061" cy="432000"/>
      </dsp:txXfrm>
    </dsp:sp>
    <dsp:sp modelId="{4E3E02F5-3C26-455D-879B-31E21173E888}">
      <dsp:nvSpPr>
        <dsp:cNvPr id="0" name=""/>
        <dsp:cNvSpPr/>
      </dsp:nvSpPr>
      <dsp:spPr>
        <a:xfrm>
          <a:off x="4860374" y="788165"/>
          <a:ext cx="1424061" cy="1810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kern="1200" dirty="0"/>
            <a:t>dodajemy kolejne działające kawałki</a:t>
          </a:r>
        </a:p>
      </dsp:txBody>
      <dsp:txXfrm>
        <a:off x="4902083" y="829874"/>
        <a:ext cx="1340643" cy="1727269"/>
      </dsp:txXfrm>
    </dsp:sp>
    <dsp:sp modelId="{AC283E2E-7487-46F5-9F62-AA30969AAB96}">
      <dsp:nvSpPr>
        <dsp:cNvPr id="0" name=""/>
        <dsp:cNvSpPr/>
      </dsp:nvSpPr>
      <dsp:spPr>
        <a:xfrm>
          <a:off x="6216262" y="302038"/>
          <a:ext cx="457671" cy="35455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200" kern="1200"/>
        </a:p>
      </dsp:txBody>
      <dsp:txXfrm>
        <a:off x="6216262" y="372948"/>
        <a:ext cx="351306" cy="212730"/>
      </dsp:txXfrm>
    </dsp:sp>
    <dsp:sp modelId="{D235E61C-8FE6-4AC9-90A2-E1590E2EFE9C}">
      <dsp:nvSpPr>
        <dsp:cNvPr id="0" name=""/>
        <dsp:cNvSpPr/>
      </dsp:nvSpPr>
      <dsp:spPr>
        <a:xfrm>
          <a:off x="6863910" y="263313"/>
          <a:ext cx="1424061" cy="648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Adaptacyjny / Agile</a:t>
          </a:r>
        </a:p>
      </dsp:txBody>
      <dsp:txXfrm>
        <a:off x="6863910" y="263313"/>
        <a:ext cx="1424061" cy="432000"/>
      </dsp:txXfrm>
    </dsp:sp>
    <dsp:sp modelId="{46589094-6650-4178-9F1D-9D1DF30B4735}">
      <dsp:nvSpPr>
        <dsp:cNvPr id="0" name=""/>
        <dsp:cNvSpPr/>
      </dsp:nvSpPr>
      <dsp:spPr>
        <a:xfrm>
          <a:off x="7156719" y="790247"/>
          <a:ext cx="1424061" cy="1810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500" kern="1200" dirty="0"/>
            <a:t>pracujemy iteracyjnie i przyrostowo, w krótkich cyklach z ciągłym feedbackiem</a:t>
          </a:r>
        </a:p>
      </dsp:txBody>
      <dsp:txXfrm>
        <a:off x="7198428" y="831956"/>
        <a:ext cx="1340643" cy="17272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0" indent="0">
              <a:buNone/>
              <a:defRPr sz="2000" b="1"/>
            </a:lvl2pPr>
            <a:lvl3pPr marL="914380" indent="0">
              <a:buNone/>
              <a:defRPr sz="1800" b="1"/>
            </a:lvl3pPr>
            <a:lvl4pPr marL="1371570" indent="0">
              <a:buNone/>
              <a:defRPr sz="1600" b="1"/>
            </a:lvl4pPr>
            <a:lvl5pPr marL="1828760" indent="0">
              <a:buNone/>
              <a:defRPr sz="1600" b="1"/>
            </a:lvl5pPr>
            <a:lvl6pPr marL="2285950" indent="0">
              <a:buNone/>
              <a:defRPr sz="1600" b="1"/>
            </a:lvl6pPr>
            <a:lvl7pPr marL="2743140" indent="0">
              <a:buNone/>
              <a:defRPr sz="1600" b="1"/>
            </a:lvl7pPr>
            <a:lvl8pPr marL="3200329" indent="0">
              <a:buNone/>
              <a:defRPr sz="1600" b="1"/>
            </a:lvl8pPr>
            <a:lvl9pPr marL="365752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0" indent="0">
              <a:buNone/>
              <a:defRPr sz="2000" b="1"/>
            </a:lvl2pPr>
            <a:lvl3pPr marL="914380" indent="0">
              <a:buNone/>
              <a:defRPr sz="1800" b="1"/>
            </a:lvl3pPr>
            <a:lvl4pPr marL="1371570" indent="0">
              <a:buNone/>
              <a:defRPr sz="1600" b="1"/>
            </a:lvl4pPr>
            <a:lvl5pPr marL="1828760" indent="0">
              <a:buNone/>
              <a:defRPr sz="1600" b="1"/>
            </a:lvl5pPr>
            <a:lvl6pPr marL="2285950" indent="0">
              <a:buNone/>
              <a:defRPr sz="1600" b="1"/>
            </a:lvl6pPr>
            <a:lvl7pPr marL="2743140" indent="0">
              <a:buNone/>
              <a:defRPr sz="1600" b="1"/>
            </a:lvl7pPr>
            <a:lvl8pPr marL="3200329" indent="0">
              <a:buNone/>
              <a:defRPr sz="1600" b="1"/>
            </a:lvl8pPr>
            <a:lvl9pPr marL="365752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90" indent="0">
              <a:buNone/>
              <a:defRPr sz="1200"/>
            </a:lvl2pPr>
            <a:lvl3pPr marL="914380" indent="0">
              <a:buNone/>
              <a:defRPr sz="1000"/>
            </a:lvl3pPr>
            <a:lvl4pPr marL="1371570" indent="0">
              <a:buNone/>
              <a:defRPr sz="900"/>
            </a:lvl4pPr>
            <a:lvl5pPr marL="1828760" indent="0">
              <a:buNone/>
              <a:defRPr sz="900"/>
            </a:lvl5pPr>
            <a:lvl6pPr marL="2285950" indent="0">
              <a:buNone/>
              <a:defRPr sz="900"/>
            </a:lvl6pPr>
            <a:lvl7pPr marL="2743140" indent="0">
              <a:buNone/>
              <a:defRPr sz="900"/>
            </a:lvl7pPr>
            <a:lvl8pPr marL="3200329" indent="0">
              <a:buNone/>
              <a:defRPr sz="900"/>
            </a:lvl8pPr>
            <a:lvl9pPr marL="365752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90" indent="0">
              <a:buNone/>
              <a:defRPr sz="2800"/>
            </a:lvl2pPr>
            <a:lvl3pPr marL="914380" indent="0">
              <a:buNone/>
              <a:defRPr sz="2400"/>
            </a:lvl3pPr>
            <a:lvl4pPr marL="1371570" indent="0">
              <a:buNone/>
              <a:defRPr sz="2000"/>
            </a:lvl4pPr>
            <a:lvl5pPr marL="1828760" indent="0">
              <a:buNone/>
              <a:defRPr sz="2000"/>
            </a:lvl5pPr>
            <a:lvl6pPr marL="2285950" indent="0">
              <a:buNone/>
              <a:defRPr sz="2000"/>
            </a:lvl6pPr>
            <a:lvl7pPr marL="2743140" indent="0">
              <a:buNone/>
              <a:defRPr sz="2000"/>
            </a:lvl7pPr>
            <a:lvl8pPr marL="3200329" indent="0">
              <a:buNone/>
              <a:defRPr sz="2000"/>
            </a:lvl8pPr>
            <a:lvl9pPr marL="365752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90" indent="0">
              <a:buNone/>
              <a:defRPr sz="1200"/>
            </a:lvl2pPr>
            <a:lvl3pPr marL="914380" indent="0">
              <a:buNone/>
              <a:defRPr sz="1000"/>
            </a:lvl3pPr>
            <a:lvl4pPr marL="1371570" indent="0">
              <a:buNone/>
              <a:defRPr sz="900"/>
            </a:lvl4pPr>
            <a:lvl5pPr marL="1828760" indent="0">
              <a:buNone/>
              <a:defRPr sz="900"/>
            </a:lvl5pPr>
            <a:lvl6pPr marL="2285950" indent="0">
              <a:buNone/>
              <a:defRPr sz="900"/>
            </a:lvl6pPr>
            <a:lvl7pPr marL="2743140" indent="0">
              <a:buNone/>
              <a:defRPr sz="900"/>
            </a:lvl7pPr>
            <a:lvl8pPr marL="3200329" indent="0">
              <a:buNone/>
              <a:defRPr sz="900"/>
            </a:lvl8pPr>
            <a:lvl9pPr marL="365752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5_Przekładka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170C8B53-7693-8F74-4520-911DDD1CDCA8}"/>
              </a:ext>
            </a:extLst>
          </p:cNvPr>
          <p:cNvSpPr/>
          <p:nvPr/>
        </p:nvSpPr>
        <p:spPr>
          <a:xfrm>
            <a:off x="0" y="2466000"/>
            <a:ext cx="9143550" cy="4392000"/>
          </a:xfrm>
          <a:prstGeom prst="rect">
            <a:avLst/>
          </a:prstGeom>
          <a:solidFill>
            <a:srgbClr val="D3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3" tIns="19202" rIns="38403" bIns="19202" rtlCol="0" anchor="ctr"/>
          <a:lstStyle/>
          <a:p>
            <a:pPr algn="ctr"/>
            <a:endParaRPr lang="pl-PL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500" y="3072600"/>
            <a:ext cx="8193600" cy="1812804"/>
          </a:xfrm>
          <a:prstGeom prst="rect">
            <a:avLst/>
          </a:prstGeom>
        </p:spPr>
        <p:txBody>
          <a:bodyPr lIns="38403" tIns="19202" rIns="38403" bIns="19202"/>
          <a:lstStyle>
            <a:lvl1pPr algn="l">
              <a:lnSpc>
                <a:spcPct val="95000"/>
              </a:lnSpc>
              <a:defRPr sz="5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 dirty="0"/>
              <a:t>Nowe layouty</a:t>
            </a:r>
            <a:br>
              <a:rPr lang="pl-PL" dirty="0"/>
            </a:br>
            <a:r>
              <a:rPr lang="pl-PL" dirty="0"/>
              <a:t>i strony internetowe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214BC99-0B4B-E004-1003-20958DE915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00" y="5454002"/>
            <a:ext cx="3600450" cy="751969"/>
          </a:xfrm>
          <a:prstGeom prst="rect">
            <a:avLst/>
          </a:prstGeom>
        </p:spPr>
        <p:txBody>
          <a:bodyPr lIns="38403" tIns="19202" rIns="38403" bIns="19202"/>
          <a:lstStyle>
            <a:lvl1pPr algn="l">
              <a:lnSpc>
                <a:spcPct val="110000"/>
              </a:lnSpc>
              <a:defRPr sz="190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2pPr>
            <a:lvl3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3pPr>
            <a:lvl4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4pPr>
            <a:lvl5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Imię i Nazwisko, Imię i Nazwisko </a:t>
            </a:r>
            <a:br>
              <a:rPr lang="pl-PL" dirty="0"/>
            </a:br>
            <a:r>
              <a:rPr lang="pl-PL" dirty="0"/>
              <a:t>Miasto, rok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926A903C-D35D-08B2-3A05-1FD0747E7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" y="1"/>
            <a:ext cx="2282977" cy="2466000"/>
          </a:xfrm>
          <a:prstGeom prst="rect">
            <a:avLst/>
          </a:prstGeom>
        </p:spPr>
      </p:pic>
      <p:pic>
        <p:nvPicPr>
          <p:cNvPr id="15" name="Obraz 14" descr="Obraz zawierający tekst, Czcionka, Grafika, zrzut ekranu&#10;&#10;Opis wygenerowany automatycznie">
            <a:extLst>
              <a:ext uri="{FF2B5EF4-FFF2-40B4-BE49-F238E27FC236}">
                <a16:creationId xmlns:a16="http://schemas.microsoft.com/office/drawing/2014/main" id="{58D87D26-5BDE-5D1F-E6A2-F2E127DA73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050" y="2"/>
            <a:ext cx="2902382" cy="18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75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8_Dwie kolumny tekst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72500" y="666000"/>
            <a:ext cx="6668634" cy="41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30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Dwie kolumny tekstu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617" y="629966"/>
            <a:ext cx="749883" cy="81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500" y="1143000"/>
            <a:ext cx="6669000" cy="36933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0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2000">
                <a:solidFill>
                  <a:schemeClr val="tx1"/>
                </a:solidFill>
                <a:latin typeface="+mn-lt"/>
              </a:defRPr>
            </a:lvl2pPr>
            <a:lvl3pPr marL="0" algn="l">
              <a:defRPr sz="2000">
                <a:solidFill>
                  <a:schemeClr val="tx1"/>
                </a:solidFill>
                <a:latin typeface="+mn-lt"/>
              </a:defRPr>
            </a:lvl3pPr>
            <a:lvl4pPr marL="0" algn="l">
              <a:defRPr sz="2000">
                <a:solidFill>
                  <a:schemeClr val="tx1"/>
                </a:solidFill>
                <a:latin typeface="+mn-lt"/>
              </a:defRPr>
            </a:lvl4pPr>
            <a:lvl5pPr marL="0" algn="l"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Z wyróżnionym tekstem</a:t>
            </a:r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0FCD88CD-B185-DA18-F703-3B57ACD8E0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00" y="2016000"/>
            <a:ext cx="3996000" cy="2057400"/>
          </a:xfrm>
          <a:prstGeom prst="rect">
            <a:avLst/>
          </a:prstGeom>
        </p:spPr>
        <p:txBody>
          <a:bodyPr lIns="0" tIns="0" rIns="0" bIns="0" numCol="1" spcCol="226795">
            <a:noAutofit/>
          </a:bodyPr>
          <a:lstStyle>
            <a:lvl1pPr marL="0" indent="0" algn="l">
              <a:lnSpc>
                <a:spcPct val="115000"/>
              </a:lnSpc>
              <a:spcBef>
                <a:spcPts val="2184"/>
              </a:spcBef>
              <a:buFontTx/>
              <a:buNone/>
              <a:tabLst>
                <a:tab pos="302393" algn="l"/>
              </a:tabLst>
              <a:defRPr sz="1500">
                <a:solidFill>
                  <a:schemeClr val="tx1"/>
                </a:solidFill>
                <a:latin typeface="+mn-lt"/>
              </a:defRPr>
            </a:lvl1pPr>
            <a:lvl2pPr marL="240403" indent="-240025" algn="l">
              <a:lnSpc>
                <a:spcPct val="115000"/>
              </a:lnSpc>
              <a:spcBef>
                <a:spcPts val="2100"/>
              </a:spcBef>
              <a:buClr>
                <a:schemeClr val="tx1"/>
              </a:buClr>
              <a:buSzPct val="120000"/>
              <a:buFont typeface="Wingdings" panose="05000000000000000000" pitchFamily="2" charset="2"/>
              <a:buChar char="§"/>
              <a:tabLst>
                <a:tab pos="272154" algn="l"/>
              </a:tabLst>
              <a:defRPr sz="1500">
                <a:solidFill>
                  <a:schemeClr val="tx1"/>
                </a:solidFill>
                <a:latin typeface="+mn-lt"/>
              </a:defRPr>
            </a:lvl2pPr>
            <a:lvl3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3pPr>
            <a:lvl4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4pPr>
            <a:lvl5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tekstu 12">
            <a:extLst>
              <a:ext uri="{FF2B5EF4-FFF2-40B4-BE49-F238E27FC236}">
                <a16:creationId xmlns:a16="http://schemas.microsoft.com/office/drawing/2014/main" id="{B4E20F8F-4E0B-A9A4-FD35-F3A0B1A39B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5050" y="2016000"/>
            <a:ext cx="3996000" cy="3771900"/>
          </a:xfrm>
          <a:prstGeom prst="rect">
            <a:avLst/>
          </a:prstGeom>
        </p:spPr>
        <p:txBody>
          <a:bodyPr lIns="0" tIns="0" rIns="0" bIns="0" numCol="1" spcCol="226795">
            <a:noAutofit/>
          </a:bodyPr>
          <a:lstStyle>
            <a:lvl1pPr marL="0" indent="0" algn="l">
              <a:lnSpc>
                <a:spcPct val="115000"/>
              </a:lnSpc>
              <a:spcBef>
                <a:spcPts val="2184"/>
              </a:spcBef>
              <a:buFontTx/>
              <a:buNone/>
              <a:tabLst>
                <a:tab pos="302393" algn="l"/>
              </a:tabLst>
              <a:defRPr sz="1500">
                <a:solidFill>
                  <a:schemeClr val="tx1"/>
                </a:solidFill>
                <a:latin typeface="+mn-lt"/>
              </a:defRPr>
            </a:lvl1pPr>
            <a:lvl2pPr marL="240403" indent="-240025" algn="l">
              <a:lnSpc>
                <a:spcPct val="115000"/>
              </a:lnSpc>
              <a:spcBef>
                <a:spcPts val="2100"/>
              </a:spcBef>
              <a:buClr>
                <a:schemeClr val="tx1"/>
              </a:buClr>
              <a:buSzPct val="120000"/>
              <a:buFont typeface="Wingdings" panose="05000000000000000000" pitchFamily="2" charset="2"/>
              <a:buChar char="§"/>
              <a:tabLst>
                <a:tab pos="272154" algn="l"/>
              </a:tabLst>
              <a:defRPr sz="1500">
                <a:solidFill>
                  <a:schemeClr val="tx1"/>
                </a:solidFill>
                <a:latin typeface="+mn-lt"/>
              </a:defRPr>
            </a:lvl2pPr>
            <a:lvl3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3pPr>
            <a:lvl4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4pPr>
            <a:lvl5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 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BB0FCE05-85CB-435E-B9A8-E94C720C83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28750" y="4572000"/>
            <a:ext cx="3028950" cy="1219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1pPr>
            <a:lvl2pPr marL="0"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2pPr>
            <a:lvl3pPr marL="0"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3pPr>
            <a:lvl4pPr marL="0"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4pPr>
            <a:lvl5pPr marL="0"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l-PL" dirty="0"/>
              <a:t>Wstaw tekst</a:t>
            </a:r>
          </a:p>
        </p:txBody>
      </p:sp>
      <p:sp>
        <p:nvSpPr>
          <p:cNvPr id="10" name="Symbol zastępczy obrazu 9">
            <a:extLst>
              <a:ext uri="{FF2B5EF4-FFF2-40B4-BE49-F238E27FC236}">
                <a16:creationId xmlns:a16="http://schemas.microsoft.com/office/drawing/2014/main" id="{CE0AE354-4B88-389C-B175-517C5CAA56F2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05745" y="4427444"/>
            <a:ext cx="661338" cy="716056"/>
          </a:xfrm>
          <a:prstGeom prst="rect">
            <a:avLst/>
          </a:prstGeom>
          <a:noFill/>
        </p:spPr>
        <p:txBody>
          <a:bodyPr lIns="38404" tIns="19202" rIns="38404" bIns="19202" anchor="ctr" anchorCtr="1">
            <a:noAutofit/>
          </a:bodyPr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Wstaw piktogram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>
            <a:lvl1pPr algn="r">
              <a:defRPr sz="1200">
                <a:latin typeface="+mn-lt"/>
              </a:defRPr>
            </a:lvl1pPr>
          </a:lstStyle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‹#›</a:t>
            </a:fld>
            <a:endParaRPr lang="pl-PL" dirty="0">
              <a:solidFill>
                <a:srgbClr val="141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838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7-Spis treśc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72500" y="666000"/>
            <a:ext cx="6668634" cy="41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30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Spis treści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617" y="629966"/>
            <a:ext cx="749883" cy="81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500" y="1166400"/>
            <a:ext cx="6669000" cy="36933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0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2000">
                <a:solidFill>
                  <a:schemeClr val="tx1"/>
                </a:solidFill>
                <a:latin typeface="+mn-lt"/>
              </a:defRPr>
            </a:lvl2pPr>
            <a:lvl3pPr marL="0" algn="l">
              <a:defRPr sz="2000">
                <a:solidFill>
                  <a:schemeClr val="tx1"/>
                </a:solidFill>
                <a:latin typeface="+mn-lt"/>
              </a:defRPr>
            </a:lvl3pPr>
            <a:lvl4pPr marL="0" algn="l">
              <a:defRPr sz="2000">
                <a:solidFill>
                  <a:schemeClr val="tx1"/>
                </a:solidFill>
                <a:latin typeface="+mn-lt"/>
              </a:defRPr>
            </a:lvl4pPr>
            <a:lvl5pPr marL="0" algn="l"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Podtytuł opcjonalny</a:t>
            </a:r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0FCD88CD-B185-DA18-F703-3B57ACD8E0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00" y="2106001"/>
            <a:ext cx="8214122" cy="4122035"/>
          </a:xfrm>
          <a:prstGeom prst="rect">
            <a:avLst/>
          </a:prstGeom>
        </p:spPr>
        <p:txBody>
          <a:bodyPr lIns="0" tIns="0" rIns="0" bIns="0" numCol="2" spcCol="226795">
            <a:noAutofit/>
          </a:bodyPr>
          <a:lstStyle>
            <a:lvl1pPr marL="312032" indent="-312032" algn="l">
              <a:lnSpc>
                <a:spcPct val="115000"/>
              </a:lnSpc>
              <a:spcBef>
                <a:spcPts val="2100"/>
              </a:spcBef>
              <a:buFont typeface="+mj-lt"/>
              <a:buAutoNum type="arabicPeriod"/>
              <a:tabLst>
                <a:tab pos="302393" algn="l"/>
              </a:tabLst>
              <a:defRPr sz="1500">
                <a:solidFill>
                  <a:schemeClr val="tx1"/>
                </a:solidFill>
                <a:latin typeface="+mj-lt"/>
              </a:defRPr>
            </a:lvl1pPr>
            <a:lvl2pPr marL="816462" indent="-514069" algn="l">
              <a:lnSpc>
                <a:spcPct val="115000"/>
              </a:lnSpc>
              <a:tabLst>
                <a:tab pos="816462" algn="l"/>
              </a:tabLst>
              <a:defRPr sz="1500">
                <a:solidFill>
                  <a:schemeClr val="tx1"/>
                </a:solidFill>
                <a:latin typeface="+mn-lt"/>
              </a:defRPr>
            </a:lvl2pPr>
            <a:lvl3pPr marL="816462" indent="-514069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3pPr>
            <a:lvl4pPr marL="816462" indent="-514069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4pPr>
            <a:lvl5pPr marL="816462" indent="-514069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789382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Slajd-Cy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926A903C-D35D-08B2-3A05-1FD0747E7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000375" cy="3240912"/>
          </a:xfrm>
          <a:prstGeom prst="rect">
            <a:avLst/>
          </a:prstGeom>
        </p:spPr>
      </p:pic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3240883"/>
            <a:ext cx="3000375" cy="3617119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lIns="38404" tIns="19202" rIns="38404" bIns="19202"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E6401B9B-993B-5052-B6AD-655AFD790B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28467" y="1866901"/>
            <a:ext cx="4333500" cy="2875757"/>
          </a:xfrm>
          <a:prstGeom prst="rect">
            <a:avLst/>
          </a:prstGeom>
        </p:spPr>
        <p:txBody>
          <a:bodyPr lIns="38404" tIns="19202" rIns="38404" bIns="19202" anchor="ctr" anchorCtr="0">
            <a:normAutofit/>
          </a:bodyPr>
          <a:lstStyle>
            <a:lvl1pPr algn="l">
              <a:defRPr sz="5900">
                <a:solidFill>
                  <a:schemeClr val="tx2"/>
                </a:solidFill>
                <a:latin typeface="+mj-lt"/>
              </a:defRPr>
            </a:lvl1pPr>
            <a:lvl2pPr marL="0" algn="l">
              <a:defRPr sz="400">
                <a:latin typeface="+mj-lt"/>
              </a:defRPr>
            </a:lvl2pPr>
            <a:lvl3pPr marL="0" algn="l">
              <a:defRPr sz="400">
                <a:latin typeface="+mj-lt"/>
              </a:defRPr>
            </a:lvl3pPr>
            <a:lvl4pPr marL="0" algn="l">
              <a:defRPr sz="400">
                <a:latin typeface="+mj-lt"/>
              </a:defRPr>
            </a:lvl4pPr>
            <a:lvl5pPr marL="0" algn="l">
              <a:defRPr sz="400">
                <a:latin typeface="+mj-lt"/>
              </a:defRPr>
            </a:lvl5pPr>
          </a:lstStyle>
          <a:p>
            <a:pPr lvl="0"/>
            <a:r>
              <a:rPr lang="pl-PL" dirty="0"/>
              <a:t>Cytat </a:t>
            </a:r>
            <a:br>
              <a:rPr lang="pl-PL" dirty="0"/>
            </a:br>
            <a:r>
              <a:rPr lang="pl-PL" dirty="0"/>
              <a:t>dwa wiersze</a:t>
            </a:r>
          </a:p>
        </p:txBody>
      </p:sp>
      <p:sp>
        <p:nvSpPr>
          <p:cNvPr id="6" name="Symbol zastępczy obrazu 5">
            <a:extLst>
              <a:ext uri="{FF2B5EF4-FFF2-40B4-BE49-F238E27FC236}">
                <a16:creationId xmlns:a16="http://schemas.microsoft.com/office/drawing/2014/main" id="{027B0055-3468-31B9-20F2-D834B5AEE4B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3928500" y="1080000"/>
            <a:ext cx="654750" cy="709200"/>
          </a:xfrm>
          <a:prstGeom prst="rect">
            <a:avLst/>
          </a:prstGeom>
          <a:noFill/>
        </p:spPr>
        <p:txBody>
          <a:bodyPr lIns="38404" tIns="19202" rIns="38404" bIns="19202" anchor="ctr" anchorCtr="0"/>
          <a:lstStyle>
            <a:lvl1pPr algn="ctr">
              <a:defRPr/>
            </a:lvl1pPr>
          </a:lstStyle>
          <a:p>
            <a:r>
              <a:rPr lang="pl-PL" dirty="0"/>
              <a:t>Cudzysłów</a:t>
            </a:r>
          </a:p>
        </p:txBody>
      </p:sp>
      <p:sp>
        <p:nvSpPr>
          <p:cNvPr id="7" name="Symbol zastępczy obrazu 5">
            <a:extLst>
              <a:ext uri="{FF2B5EF4-FFF2-40B4-BE49-F238E27FC236}">
                <a16:creationId xmlns:a16="http://schemas.microsoft.com/office/drawing/2014/main" id="{900EDD9E-4D14-62C1-1D22-3299004773D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630200" y="4743000"/>
            <a:ext cx="654750" cy="709200"/>
          </a:xfrm>
          <a:prstGeom prst="rect">
            <a:avLst/>
          </a:prstGeom>
          <a:noFill/>
        </p:spPr>
        <p:txBody>
          <a:bodyPr lIns="38404" tIns="19202" rIns="38404" bIns="19202" anchor="ctr" anchorCtr="0"/>
          <a:lstStyle>
            <a:lvl1pPr algn="ctr">
              <a:defRPr/>
            </a:lvl1pPr>
          </a:lstStyle>
          <a:p>
            <a:r>
              <a:rPr lang="pl-PL" dirty="0"/>
              <a:t>Cudzysłów</a:t>
            </a:r>
          </a:p>
        </p:txBody>
      </p:sp>
    </p:spTree>
    <p:extLst>
      <p:ext uri="{BB962C8B-B14F-4D97-AF65-F5344CB8AC3E}">
        <p14:creationId xmlns:p14="http://schemas.microsoft.com/office/powerpoint/2010/main" val="3413255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Strona tytułow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170C8B53-7693-8F74-4520-911DDD1CDCA8}"/>
              </a:ext>
            </a:extLst>
          </p:cNvPr>
          <p:cNvSpPr/>
          <p:nvPr/>
        </p:nvSpPr>
        <p:spPr>
          <a:xfrm>
            <a:off x="0" y="2466000"/>
            <a:ext cx="9143550" cy="439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4" tIns="19202" rIns="38404" bIns="19202" rtlCol="0" anchor="ctr"/>
          <a:lstStyle/>
          <a:p>
            <a:pPr algn="ctr" defTabSz="914400"/>
            <a:endParaRPr lang="pl-PL" kern="0">
              <a:solidFill>
                <a:srgbClr val="FFFFFF"/>
              </a:solidFill>
            </a:endParaRP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900" y="3249001"/>
            <a:ext cx="4857750" cy="1461939"/>
          </a:xfrm>
          <a:prstGeom prst="rect">
            <a:avLst/>
          </a:prstGeom>
        </p:spPr>
        <p:txBody>
          <a:bodyPr lIns="38404" tIns="19202" rIns="38404" bIns="19202"/>
          <a:lstStyle>
            <a:lvl1pPr algn="l">
              <a:lnSpc>
                <a:spcPct val="95000"/>
              </a:lnSpc>
              <a:defRPr sz="4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Personal </a:t>
            </a:r>
            <a:r>
              <a:rPr lang="pl-PL" dirty="0" err="1"/>
              <a:t>Branding</a:t>
            </a:r>
            <a:r>
              <a:rPr lang="pl-PL" dirty="0"/>
              <a:t>,</a:t>
            </a:r>
            <a:br>
              <a:rPr lang="pl-PL" dirty="0"/>
            </a:br>
            <a:r>
              <a:rPr lang="pl-PL" dirty="0"/>
              <a:t>kiedy, jak i gdzie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214BC99-0B4B-E004-1003-20958DE915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00" y="5454001"/>
            <a:ext cx="3600450" cy="751969"/>
          </a:xfrm>
          <a:prstGeom prst="rect">
            <a:avLst/>
          </a:prstGeom>
        </p:spPr>
        <p:txBody>
          <a:bodyPr lIns="38404" tIns="19202" rIns="38404" bIns="19202"/>
          <a:lstStyle>
            <a:lvl1pPr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1pPr>
            <a:lvl2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2pPr>
            <a:lvl3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3pPr>
            <a:lvl4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4pPr>
            <a:lvl5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Imię i Nazwisko, Imię i Nazwisko </a:t>
            </a:r>
            <a:br>
              <a:rPr lang="pl-PL" dirty="0"/>
            </a:br>
            <a:r>
              <a:rPr lang="pl-PL" dirty="0"/>
              <a:t>Miasto, rok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926A903C-D35D-08B2-3A05-1FD0747E7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"/>
            <a:ext cx="2282977" cy="2466000"/>
          </a:xfrm>
          <a:prstGeom prst="rect">
            <a:avLst/>
          </a:prstGeom>
        </p:spPr>
      </p:pic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31518" y="2466000"/>
            <a:ext cx="3612482" cy="4392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lIns="38404" tIns="19202" rIns="38404" bIns="19202"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  <p:pic>
        <p:nvPicPr>
          <p:cNvPr id="23" name="Obraz 22" descr="Obraz zawierający tekst, Czcionka, Grafika, zrzut ekranu&#10;&#10;Opis wygenerowany automatycznie">
            <a:extLst>
              <a:ext uri="{FF2B5EF4-FFF2-40B4-BE49-F238E27FC236}">
                <a16:creationId xmlns:a16="http://schemas.microsoft.com/office/drawing/2014/main" id="{4F8F57C7-466B-724D-2E49-53854F740E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050" y="1"/>
            <a:ext cx="2902382" cy="18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91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Przekładk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170C8B53-7693-8F74-4520-911DDD1CDCA8}"/>
              </a:ext>
            </a:extLst>
          </p:cNvPr>
          <p:cNvSpPr/>
          <p:nvPr/>
        </p:nvSpPr>
        <p:spPr>
          <a:xfrm>
            <a:off x="3001050" y="0"/>
            <a:ext cx="614362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4" tIns="19202" rIns="38404" bIns="19202" rtlCol="0" anchor="ctr"/>
          <a:lstStyle/>
          <a:p>
            <a:pPr algn="ctr" defTabSz="914400"/>
            <a:endParaRPr lang="pl-PL" kern="0">
              <a:solidFill>
                <a:srgbClr val="FFFFFF"/>
              </a:solidFill>
            </a:endParaRP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8250" y="738000"/>
            <a:ext cx="4866786" cy="1477328"/>
          </a:xfrm>
          <a:prstGeom prst="rect">
            <a:avLst/>
          </a:prstGeom>
        </p:spPr>
        <p:txBody>
          <a:bodyPr lIns="38404" tIns="19202" rIns="38404" bIns="19202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Tytuł </a:t>
            </a:r>
            <a:br>
              <a:rPr lang="pl-PL" dirty="0"/>
            </a:br>
            <a:r>
              <a:rPr lang="pl-PL" dirty="0"/>
              <a:t>dwuwierszowy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214BC99-0B4B-E004-1003-20958DE915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8500" y="2376001"/>
            <a:ext cx="3856725" cy="1419107"/>
          </a:xfrm>
          <a:prstGeom prst="rect">
            <a:avLst/>
          </a:prstGeom>
        </p:spPr>
        <p:txBody>
          <a:bodyPr lIns="38404" tIns="19202" rIns="38404" bIns="19202"/>
          <a:lstStyle>
            <a:lvl1pPr algn="l">
              <a:lnSpc>
                <a:spcPct val="110000"/>
              </a:lnSpc>
              <a:defRPr sz="1400">
                <a:solidFill>
                  <a:schemeClr val="bg1"/>
                </a:solidFill>
              </a:defRPr>
            </a:lvl1pPr>
            <a:lvl2pPr marL="0" algn="l">
              <a:lnSpc>
                <a:spcPct val="110000"/>
              </a:lnSpc>
              <a:defRPr sz="1400">
                <a:solidFill>
                  <a:schemeClr val="bg1"/>
                </a:solidFill>
              </a:defRPr>
            </a:lvl2pPr>
            <a:lvl3pPr marL="0" algn="l">
              <a:lnSpc>
                <a:spcPct val="110000"/>
              </a:lnSpc>
              <a:defRPr sz="1400">
                <a:solidFill>
                  <a:schemeClr val="bg1"/>
                </a:solidFill>
              </a:defRPr>
            </a:lvl3pPr>
            <a:lvl4pPr marL="0" algn="l">
              <a:lnSpc>
                <a:spcPct val="110000"/>
              </a:lnSpc>
              <a:defRPr sz="1400">
                <a:solidFill>
                  <a:schemeClr val="bg1"/>
                </a:solidFill>
              </a:defRPr>
            </a:lvl4pPr>
            <a:lvl5pPr marL="0" algn="l">
              <a:lnSpc>
                <a:spcPct val="11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Podtytuł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pic>
        <p:nvPicPr>
          <p:cNvPr id="10" name="Grafika 9">
            <a:extLst>
              <a:ext uri="{FF2B5EF4-FFF2-40B4-BE49-F238E27FC236}">
                <a16:creationId xmlns:a16="http://schemas.microsoft.com/office/drawing/2014/main" id="{FF6E8833-5FD7-68CB-5F9C-9A1559E2E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9500" y="2626490"/>
            <a:ext cx="4799286" cy="3240911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926A903C-D35D-08B2-3A05-1FD0747E7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3000375" cy="3240912"/>
          </a:xfrm>
          <a:prstGeom prst="rect">
            <a:avLst/>
          </a:prstGeom>
        </p:spPr>
      </p:pic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240883"/>
            <a:ext cx="3000375" cy="3617119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lIns="38404" tIns="19202" rIns="38404" bIns="19202"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</p:spTree>
    <p:extLst>
      <p:ext uri="{BB962C8B-B14F-4D97-AF65-F5344CB8AC3E}">
        <p14:creationId xmlns:p14="http://schemas.microsoft.com/office/powerpoint/2010/main" val="547577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Przekładk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170C8B53-7693-8F74-4520-911DDD1CDCA8}"/>
              </a:ext>
            </a:extLst>
          </p:cNvPr>
          <p:cNvSpPr/>
          <p:nvPr/>
        </p:nvSpPr>
        <p:spPr>
          <a:xfrm>
            <a:off x="0" y="0"/>
            <a:ext cx="614362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4" tIns="19202" rIns="38404" bIns="19202" rtlCol="0" anchor="ctr"/>
          <a:lstStyle/>
          <a:p>
            <a:pPr algn="ctr" defTabSz="914400"/>
            <a:endParaRPr lang="pl-PL" kern="0">
              <a:solidFill>
                <a:srgbClr val="FFFFFF"/>
              </a:solidFill>
            </a:endParaRP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63" y="2448001"/>
            <a:ext cx="4857750" cy="1754327"/>
          </a:xfrm>
          <a:prstGeom prst="rect">
            <a:avLst/>
          </a:prstGeom>
        </p:spPr>
        <p:txBody>
          <a:bodyPr lIns="38404" tIns="19202" rIns="38404" bIns="19202" anchor="ctr" anchorCtr="0"/>
          <a:lstStyle>
            <a:lvl1pPr>
              <a:lnSpc>
                <a:spcPct val="95000"/>
              </a:lnSpc>
              <a:defRPr sz="5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Wstaw </a:t>
            </a:r>
            <a:br>
              <a:rPr lang="pl-PL" dirty="0"/>
            </a:br>
            <a:r>
              <a:rPr lang="pl-PL" dirty="0"/>
              <a:t>tytuł</a:t>
            </a:r>
          </a:p>
        </p:txBody>
      </p:sp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43626" y="0"/>
            <a:ext cx="2993231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lIns="38404" tIns="19202" rIns="38404" bIns="19202"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</p:spTree>
    <p:extLst>
      <p:ext uri="{BB962C8B-B14F-4D97-AF65-F5344CB8AC3E}">
        <p14:creationId xmlns:p14="http://schemas.microsoft.com/office/powerpoint/2010/main" val="15220901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Przekładka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170C8B53-7693-8F74-4520-911DDD1CDCA8}"/>
              </a:ext>
            </a:extLst>
          </p:cNvPr>
          <p:cNvSpPr/>
          <p:nvPr/>
        </p:nvSpPr>
        <p:spPr>
          <a:xfrm>
            <a:off x="0" y="2466000"/>
            <a:ext cx="9143550" cy="4392000"/>
          </a:xfrm>
          <a:prstGeom prst="rect">
            <a:avLst/>
          </a:prstGeom>
          <a:solidFill>
            <a:srgbClr val="D3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4" tIns="19202" rIns="38404" bIns="19202" rtlCol="0" anchor="ctr"/>
          <a:lstStyle/>
          <a:p>
            <a:pPr algn="ctr" defTabSz="914400"/>
            <a:endParaRPr lang="pl-PL" kern="0">
              <a:solidFill>
                <a:srgbClr val="FFFFFF"/>
              </a:solidFill>
            </a:endParaRP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500" y="3072600"/>
            <a:ext cx="8193600" cy="1812804"/>
          </a:xfrm>
          <a:prstGeom prst="rect">
            <a:avLst/>
          </a:prstGeom>
        </p:spPr>
        <p:txBody>
          <a:bodyPr lIns="38404" tIns="19202" rIns="38404" bIns="19202"/>
          <a:lstStyle>
            <a:lvl1pPr algn="l">
              <a:lnSpc>
                <a:spcPct val="95000"/>
              </a:lnSpc>
              <a:defRPr sz="5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 dirty="0"/>
              <a:t>Nowe layouty</a:t>
            </a:r>
            <a:br>
              <a:rPr lang="pl-PL" dirty="0"/>
            </a:br>
            <a:r>
              <a:rPr lang="pl-PL" dirty="0"/>
              <a:t>i strony internetowe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214BC99-0B4B-E004-1003-20958DE915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00" y="5454001"/>
            <a:ext cx="3600450" cy="751969"/>
          </a:xfrm>
          <a:prstGeom prst="rect">
            <a:avLst/>
          </a:prstGeom>
        </p:spPr>
        <p:txBody>
          <a:bodyPr lIns="38404" tIns="19202" rIns="38404" bIns="19202"/>
          <a:lstStyle>
            <a:lvl1pPr algn="l">
              <a:lnSpc>
                <a:spcPct val="110000"/>
              </a:lnSpc>
              <a:defRPr sz="190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2pPr>
            <a:lvl3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3pPr>
            <a:lvl4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4pPr>
            <a:lvl5pPr marL="0" algn="l">
              <a:lnSpc>
                <a:spcPct val="110000"/>
              </a:lnSpc>
              <a:defRPr sz="19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Imię i Nazwisko, Imię i Nazwisko </a:t>
            </a:r>
            <a:br>
              <a:rPr lang="pl-PL" dirty="0"/>
            </a:br>
            <a:r>
              <a:rPr lang="pl-PL" dirty="0"/>
              <a:t>Miasto, rok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926A903C-D35D-08B2-3A05-1FD0747E7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"/>
            <a:ext cx="2282977" cy="2466000"/>
          </a:xfrm>
          <a:prstGeom prst="rect">
            <a:avLst/>
          </a:prstGeom>
        </p:spPr>
      </p:pic>
      <p:pic>
        <p:nvPicPr>
          <p:cNvPr id="15" name="Obraz 14" descr="Obraz zawierający tekst, Czcionka, Grafika, zrzut ekranu&#10;&#10;Opis wygenerowany automatycznie">
            <a:extLst>
              <a:ext uri="{FF2B5EF4-FFF2-40B4-BE49-F238E27FC236}">
                <a16:creationId xmlns:a16="http://schemas.microsoft.com/office/drawing/2014/main" id="{58D87D26-5BDE-5D1F-E6A2-F2E127DA73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050" y="1"/>
            <a:ext cx="2902382" cy="18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99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-Spis treśc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72500" y="666000"/>
            <a:ext cx="6668634" cy="41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30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Spis treści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617" y="629966"/>
            <a:ext cx="749883" cy="81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500" y="1166400"/>
            <a:ext cx="6669000" cy="36933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0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2000">
                <a:solidFill>
                  <a:schemeClr val="tx1"/>
                </a:solidFill>
                <a:latin typeface="+mn-lt"/>
              </a:defRPr>
            </a:lvl2pPr>
            <a:lvl3pPr marL="0" algn="l">
              <a:defRPr sz="2000">
                <a:solidFill>
                  <a:schemeClr val="tx1"/>
                </a:solidFill>
                <a:latin typeface="+mn-lt"/>
              </a:defRPr>
            </a:lvl3pPr>
            <a:lvl4pPr marL="0" algn="l">
              <a:defRPr sz="2000">
                <a:solidFill>
                  <a:schemeClr val="tx1"/>
                </a:solidFill>
                <a:latin typeface="+mn-lt"/>
              </a:defRPr>
            </a:lvl4pPr>
            <a:lvl5pPr marL="0" algn="l"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Podtytuł opcjonalny</a:t>
            </a:r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0FCD88CD-B185-DA18-F703-3B57ACD8E0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00" y="2106001"/>
            <a:ext cx="8214122" cy="4122035"/>
          </a:xfrm>
          <a:prstGeom prst="rect">
            <a:avLst/>
          </a:prstGeom>
        </p:spPr>
        <p:txBody>
          <a:bodyPr lIns="0" tIns="0" rIns="0" bIns="0" numCol="2" spcCol="226795">
            <a:noAutofit/>
          </a:bodyPr>
          <a:lstStyle>
            <a:lvl1pPr marL="312032" indent="-312032" algn="l">
              <a:lnSpc>
                <a:spcPct val="115000"/>
              </a:lnSpc>
              <a:spcBef>
                <a:spcPts val="2100"/>
              </a:spcBef>
              <a:buFont typeface="+mj-lt"/>
              <a:buAutoNum type="arabicPeriod"/>
              <a:tabLst>
                <a:tab pos="302393" algn="l"/>
              </a:tabLst>
              <a:defRPr sz="1500">
                <a:solidFill>
                  <a:schemeClr val="tx1"/>
                </a:solidFill>
                <a:latin typeface="+mj-lt"/>
              </a:defRPr>
            </a:lvl1pPr>
            <a:lvl2pPr marL="816462" indent="-514069" algn="l">
              <a:lnSpc>
                <a:spcPct val="115000"/>
              </a:lnSpc>
              <a:tabLst>
                <a:tab pos="816462" algn="l"/>
              </a:tabLst>
              <a:defRPr sz="1500">
                <a:solidFill>
                  <a:schemeClr val="tx1"/>
                </a:solidFill>
                <a:latin typeface="+mn-lt"/>
              </a:defRPr>
            </a:lvl2pPr>
            <a:lvl3pPr marL="816462" indent="-514069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3pPr>
            <a:lvl4pPr marL="816462" indent="-514069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4pPr>
            <a:lvl5pPr marL="816462" indent="-514069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5992846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Dwie kolumny tekst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72500" y="666000"/>
            <a:ext cx="6668634" cy="41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30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Dwie kolumny tekstu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617" y="629966"/>
            <a:ext cx="749883" cy="81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500" y="1143000"/>
            <a:ext cx="6669000" cy="36933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0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2000">
                <a:solidFill>
                  <a:schemeClr val="tx1"/>
                </a:solidFill>
                <a:latin typeface="+mn-lt"/>
              </a:defRPr>
            </a:lvl2pPr>
            <a:lvl3pPr marL="0" algn="l">
              <a:defRPr sz="2000">
                <a:solidFill>
                  <a:schemeClr val="tx1"/>
                </a:solidFill>
                <a:latin typeface="+mn-lt"/>
              </a:defRPr>
            </a:lvl3pPr>
            <a:lvl4pPr marL="0" algn="l">
              <a:defRPr sz="2000">
                <a:solidFill>
                  <a:schemeClr val="tx1"/>
                </a:solidFill>
                <a:latin typeface="+mn-lt"/>
              </a:defRPr>
            </a:lvl4pPr>
            <a:lvl5pPr marL="0" algn="l"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Z wyróżnionym tekstem</a:t>
            </a:r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0FCD88CD-B185-DA18-F703-3B57ACD8E0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00" y="2016000"/>
            <a:ext cx="3996000" cy="2057400"/>
          </a:xfrm>
          <a:prstGeom prst="rect">
            <a:avLst/>
          </a:prstGeom>
        </p:spPr>
        <p:txBody>
          <a:bodyPr lIns="0" tIns="0" rIns="0" bIns="0" numCol="1" spcCol="226795">
            <a:noAutofit/>
          </a:bodyPr>
          <a:lstStyle>
            <a:lvl1pPr marL="0" indent="0" algn="l">
              <a:lnSpc>
                <a:spcPct val="115000"/>
              </a:lnSpc>
              <a:spcBef>
                <a:spcPts val="2184"/>
              </a:spcBef>
              <a:buFontTx/>
              <a:buNone/>
              <a:tabLst>
                <a:tab pos="302393" algn="l"/>
              </a:tabLst>
              <a:defRPr sz="1500">
                <a:solidFill>
                  <a:schemeClr val="tx1"/>
                </a:solidFill>
                <a:latin typeface="+mn-lt"/>
              </a:defRPr>
            </a:lvl1pPr>
            <a:lvl2pPr marL="240403" indent="-240025" algn="l">
              <a:lnSpc>
                <a:spcPct val="115000"/>
              </a:lnSpc>
              <a:spcBef>
                <a:spcPts val="2100"/>
              </a:spcBef>
              <a:buClr>
                <a:schemeClr val="tx1"/>
              </a:buClr>
              <a:buSzPct val="120000"/>
              <a:buFont typeface="Wingdings" panose="05000000000000000000" pitchFamily="2" charset="2"/>
              <a:buChar char="§"/>
              <a:tabLst>
                <a:tab pos="272154" algn="l"/>
              </a:tabLst>
              <a:defRPr sz="1500">
                <a:solidFill>
                  <a:schemeClr val="tx1"/>
                </a:solidFill>
                <a:latin typeface="+mn-lt"/>
              </a:defRPr>
            </a:lvl2pPr>
            <a:lvl3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3pPr>
            <a:lvl4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4pPr>
            <a:lvl5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tekstu 12">
            <a:extLst>
              <a:ext uri="{FF2B5EF4-FFF2-40B4-BE49-F238E27FC236}">
                <a16:creationId xmlns:a16="http://schemas.microsoft.com/office/drawing/2014/main" id="{B4E20F8F-4E0B-A9A4-FD35-F3A0B1A39B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5050" y="2016000"/>
            <a:ext cx="3996000" cy="3771900"/>
          </a:xfrm>
          <a:prstGeom prst="rect">
            <a:avLst/>
          </a:prstGeom>
        </p:spPr>
        <p:txBody>
          <a:bodyPr lIns="0" tIns="0" rIns="0" bIns="0" numCol="1" spcCol="226795">
            <a:noAutofit/>
          </a:bodyPr>
          <a:lstStyle>
            <a:lvl1pPr marL="0" indent="0" algn="l">
              <a:lnSpc>
                <a:spcPct val="115000"/>
              </a:lnSpc>
              <a:spcBef>
                <a:spcPts val="2184"/>
              </a:spcBef>
              <a:buFontTx/>
              <a:buNone/>
              <a:tabLst>
                <a:tab pos="302393" algn="l"/>
              </a:tabLst>
              <a:defRPr sz="1500">
                <a:solidFill>
                  <a:schemeClr val="tx1"/>
                </a:solidFill>
                <a:latin typeface="+mn-lt"/>
              </a:defRPr>
            </a:lvl1pPr>
            <a:lvl2pPr marL="240403" indent="-240025" algn="l">
              <a:lnSpc>
                <a:spcPct val="115000"/>
              </a:lnSpc>
              <a:spcBef>
                <a:spcPts val="2100"/>
              </a:spcBef>
              <a:buClr>
                <a:schemeClr val="tx1"/>
              </a:buClr>
              <a:buSzPct val="120000"/>
              <a:buFont typeface="Wingdings" panose="05000000000000000000" pitchFamily="2" charset="2"/>
              <a:buChar char="§"/>
              <a:tabLst>
                <a:tab pos="272154" algn="l"/>
              </a:tabLst>
              <a:defRPr sz="1500">
                <a:solidFill>
                  <a:schemeClr val="tx1"/>
                </a:solidFill>
                <a:latin typeface="+mn-lt"/>
              </a:defRPr>
            </a:lvl2pPr>
            <a:lvl3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3pPr>
            <a:lvl4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4pPr>
            <a:lvl5pPr marL="211675" indent="-211675" algn="l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 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BB0FCE05-85CB-435E-B9A8-E94C720C83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28750" y="4572000"/>
            <a:ext cx="3028950" cy="1219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1pPr>
            <a:lvl2pPr marL="0"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2pPr>
            <a:lvl3pPr marL="0"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3pPr>
            <a:lvl4pPr marL="0"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4pPr>
            <a:lvl5pPr marL="0" algn="l">
              <a:lnSpc>
                <a:spcPct val="95000"/>
              </a:lnSpc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l-PL" dirty="0"/>
              <a:t>Wstaw tekst</a:t>
            </a:r>
          </a:p>
        </p:txBody>
      </p:sp>
      <p:sp>
        <p:nvSpPr>
          <p:cNvPr id="10" name="Symbol zastępczy obrazu 9">
            <a:extLst>
              <a:ext uri="{FF2B5EF4-FFF2-40B4-BE49-F238E27FC236}">
                <a16:creationId xmlns:a16="http://schemas.microsoft.com/office/drawing/2014/main" id="{CE0AE354-4B88-389C-B175-517C5CAA56F2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05745" y="4427444"/>
            <a:ext cx="661338" cy="716056"/>
          </a:xfrm>
          <a:prstGeom prst="rect">
            <a:avLst/>
          </a:prstGeom>
          <a:noFill/>
        </p:spPr>
        <p:txBody>
          <a:bodyPr lIns="38404" tIns="19202" rIns="38404" bIns="19202" anchor="ctr" anchorCtr="1">
            <a:noAutofit/>
          </a:bodyPr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Wstaw piktogram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>
            <a:lvl1pPr algn="r">
              <a:defRPr sz="1200">
                <a:latin typeface="+mn-lt"/>
              </a:defRPr>
            </a:lvl1pPr>
          </a:lstStyle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‹#›</a:t>
            </a:fld>
            <a:endParaRPr lang="pl-PL" dirty="0">
              <a:solidFill>
                <a:srgbClr val="141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4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Zdjęcie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9950" y="1881001"/>
            <a:ext cx="4012695" cy="1403461"/>
          </a:xfrm>
          <a:prstGeom prst="rect">
            <a:avLst/>
          </a:prstGeom>
        </p:spPr>
        <p:txBody>
          <a:bodyPr lIns="38404" tIns="19202" rIns="38404" bIns="19202" anchor="t" anchorCtr="0"/>
          <a:lstStyle>
            <a:lvl1pPr>
              <a:lnSpc>
                <a:spcPct val="95000"/>
              </a:lnSpc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 dirty="0"/>
              <a:t>Wstaw </a:t>
            </a:r>
            <a:br>
              <a:rPr lang="pl-PL" dirty="0"/>
            </a:br>
            <a:r>
              <a:rPr lang="pl-PL" dirty="0"/>
              <a:t>tytuł</a:t>
            </a:r>
          </a:p>
        </p:txBody>
      </p:sp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29075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lIns="38404" tIns="19202" rIns="38404" bIns="19202"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89474B1-6AA2-75A0-2542-1CA3AE94D2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789500" y="6400800"/>
            <a:ext cx="880920" cy="215444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‹#›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83B865E1-FEE8-5EC7-CACC-0E60D68E09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23750" y="3443400"/>
            <a:ext cx="4012406" cy="2895600"/>
          </a:xfrm>
          <a:prstGeom prst="rect">
            <a:avLst/>
          </a:prstGeom>
        </p:spPr>
        <p:txBody>
          <a:bodyPr lIns="38404" tIns="19202" rIns="38404" bIns="19202">
            <a:noAutofit/>
          </a:bodyPr>
          <a:lstStyle>
            <a:lvl1pPr algn="l">
              <a:lnSpc>
                <a:spcPct val="114000"/>
              </a:lnSpc>
              <a:defRPr sz="150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14000"/>
              </a:lnSpc>
              <a:defRPr sz="1500">
                <a:solidFill>
                  <a:schemeClr val="tx1"/>
                </a:solidFill>
                <a:latin typeface="+mn-lt"/>
              </a:defRPr>
            </a:lvl2pPr>
            <a:lvl3pPr marL="0" algn="l">
              <a:lnSpc>
                <a:spcPct val="114000"/>
              </a:lnSpc>
              <a:defRPr sz="1500">
                <a:solidFill>
                  <a:schemeClr val="tx1"/>
                </a:solidFill>
                <a:latin typeface="+mn-lt"/>
              </a:defRPr>
            </a:lvl3pPr>
            <a:lvl4pPr marL="0" algn="l">
              <a:lnSpc>
                <a:spcPct val="114000"/>
              </a:lnSpc>
              <a:defRPr sz="1500">
                <a:solidFill>
                  <a:schemeClr val="tx1"/>
                </a:solidFill>
                <a:latin typeface="+mn-lt"/>
              </a:defRPr>
            </a:lvl4pPr>
            <a:lvl5pPr marL="0" algn="l">
              <a:lnSpc>
                <a:spcPct val="114000"/>
              </a:lnSpc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Wstaw tekst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257223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Slajd z ikon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72500" y="666000"/>
            <a:ext cx="6668634" cy="41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30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Zastosowanie ikon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617" y="629966"/>
            <a:ext cx="749883" cy="81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500" y="1143000"/>
            <a:ext cx="6669000" cy="36933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0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2000">
                <a:solidFill>
                  <a:schemeClr val="tx1"/>
                </a:solidFill>
                <a:latin typeface="+mn-lt"/>
              </a:defRPr>
            </a:lvl2pPr>
            <a:lvl3pPr marL="0" algn="l">
              <a:defRPr sz="2000">
                <a:solidFill>
                  <a:schemeClr val="tx1"/>
                </a:solidFill>
                <a:latin typeface="+mn-lt"/>
              </a:defRPr>
            </a:lvl3pPr>
            <a:lvl4pPr marL="0" algn="l">
              <a:defRPr sz="2000">
                <a:solidFill>
                  <a:schemeClr val="tx1"/>
                </a:solidFill>
                <a:latin typeface="+mn-lt"/>
              </a:defRPr>
            </a:lvl4pPr>
            <a:lvl5pPr marL="0" algn="l"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Podtytuł opcjonalny</a:t>
            </a:r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0FCD88CD-B185-DA18-F703-3B57ACD8E0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4428000"/>
            <a:ext cx="2057400" cy="2057400"/>
          </a:xfrm>
          <a:prstGeom prst="rect">
            <a:avLst/>
          </a:prstGeom>
        </p:spPr>
        <p:txBody>
          <a:bodyPr lIns="0" tIns="0" rIns="0" bIns="0" numCol="1" spcCol="226795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6"/>
              </a:spcAft>
              <a:buFontTx/>
              <a:buNone/>
              <a:tabLst>
                <a:tab pos="302393" algn="l"/>
              </a:tabLst>
              <a:defRPr sz="220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272154" algn="l"/>
              </a:tabLst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10000"/>
              </a:lnSpc>
              <a:buFontTx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ctr">
              <a:lnSpc>
                <a:spcPct val="110000"/>
              </a:lnSpc>
              <a:buFontTx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ctr">
              <a:lnSpc>
                <a:spcPct val="110000"/>
              </a:lnSpc>
              <a:buFontTx/>
              <a:buNone/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0" name="Symbol zastępczy obrazu 9">
            <a:extLst>
              <a:ext uri="{FF2B5EF4-FFF2-40B4-BE49-F238E27FC236}">
                <a16:creationId xmlns:a16="http://schemas.microsoft.com/office/drawing/2014/main" id="{CE0AE354-4B88-389C-B175-517C5CAA56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4249" y="2299036"/>
            <a:ext cx="1296000" cy="1728000"/>
          </a:xfrm>
          <a:prstGeom prst="rect">
            <a:avLst/>
          </a:prstGeom>
          <a:noFill/>
        </p:spPr>
        <p:txBody>
          <a:bodyPr lIns="38404" tIns="19202" rIns="38404" bIns="19202" anchor="ctr" anchorCtr="1">
            <a:noAutofit/>
          </a:bodyPr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Wstaw piktogram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>
            <a:lvl1pPr algn="r">
              <a:defRPr sz="1200">
                <a:latin typeface="+mn-lt"/>
              </a:defRPr>
            </a:lvl1pPr>
          </a:lstStyle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‹#›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3" name="Symbol zastępczy tekstu 12">
            <a:extLst>
              <a:ext uri="{FF2B5EF4-FFF2-40B4-BE49-F238E27FC236}">
                <a16:creationId xmlns:a16="http://schemas.microsoft.com/office/drawing/2014/main" id="{9E871370-C21C-6F48-7584-ADE9D36D5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50500" y="4428000"/>
            <a:ext cx="2057400" cy="2057400"/>
          </a:xfrm>
          <a:prstGeom prst="rect">
            <a:avLst/>
          </a:prstGeom>
        </p:spPr>
        <p:txBody>
          <a:bodyPr lIns="0" tIns="0" rIns="0" bIns="0" numCol="1" spcCol="226795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6"/>
              </a:spcAft>
              <a:buFontTx/>
              <a:buNone/>
              <a:tabLst>
                <a:tab pos="302393" algn="l"/>
              </a:tabLst>
              <a:defRPr sz="220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272154" algn="l"/>
              </a:tabLst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10000"/>
              </a:lnSpc>
              <a:buFontTx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ctr">
              <a:lnSpc>
                <a:spcPct val="110000"/>
              </a:lnSpc>
              <a:buFontTx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ctr">
              <a:lnSpc>
                <a:spcPct val="110000"/>
              </a:lnSpc>
              <a:buFontTx/>
              <a:buNone/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6" name="Symbol zastępczy tekstu 12">
            <a:extLst>
              <a:ext uri="{FF2B5EF4-FFF2-40B4-BE49-F238E27FC236}">
                <a16:creationId xmlns:a16="http://schemas.microsoft.com/office/drawing/2014/main" id="{75A893C0-BDB7-0AC0-27E7-91ABAF16F1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2500" y="4428000"/>
            <a:ext cx="2057400" cy="2057400"/>
          </a:xfrm>
          <a:prstGeom prst="rect">
            <a:avLst/>
          </a:prstGeom>
        </p:spPr>
        <p:txBody>
          <a:bodyPr lIns="0" tIns="0" rIns="0" bIns="0" numCol="1" spcCol="226795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6"/>
              </a:spcAft>
              <a:buFontTx/>
              <a:buNone/>
              <a:tabLst>
                <a:tab pos="302393" algn="l"/>
              </a:tabLst>
              <a:defRPr sz="220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272154" algn="l"/>
              </a:tabLst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10000"/>
              </a:lnSpc>
              <a:buFontTx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ctr">
              <a:lnSpc>
                <a:spcPct val="110000"/>
              </a:lnSpc>
              <a:buFontTx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ctr">
              <a:lnSpc>
                <a:spcPct val="110000"/>
              </a:lnSpc>
              <a:buFontTx/>
              <a:buNone/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7" name="Symbol zastępczy obrazu 6">
            <a:extLst>
              <a:ext uri="{FF2B5EF4-FFF2-40B4-BE49-F238E27FC236}">
                <a16:creationId xmlns:a16="http://schemas.microsoft.com/office/drawing/2014/main" id="{69F836FA-ACAA-67B9-3DD1-585B30FDCDD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1401425" y="2298700"/>
            <a:ext cx="1301949" cy="1739900"/>
          </a:xfrm>
          <a:prstGeom prst="rect">
            <a:avLst/>
          </a:prstGeom>
        </p:spPr>
        <p:txBody>
          <a:bodyPr lIns="38404" tIns="19202" rIns="38404" bIns="19202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pPr marL="0" marR="0" lvl="0" indent="0" defTabSz="3840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Wstaw piktogram</a:t>
            </a:r>
          </a:p>
        </p:txBody>
      </p:sp>
      <p:sp>
        <p:nvSpPr>
          <p:cNvPr id="16" name="Symbol zastępczy obrazu 9">
            <a:extLst>
              <a:ext uri="{FF2B5EF4-FFF2-40B4-BE49-F238E27FC236}">
                <a16:creationId xmlns:a16="http://schemas.microsoft.com/office/drawing/2014/main" id="{37653B51-E6BF-0397-894E-A4C643B1EC7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931200" y="2299036"/>
            <a:ext cx="1296000" cy="1728000"/>
          </a:xfrm>
          <a:prstGeom prst="rect">
            <a:avLst/>
          </a:prstGeom>
          <a:noFill/>
        </p:spPr>
        <p:txBody>
          <a:bodyPr lIns="38404" tIns="19202" rIns="38404" bIns="19202" anchor="ctr" anchorCtr="1">
            <a:noAutofit/>
          </a:bodyPr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Wstaw piktogram</a:t>
            </a:r>
          </a:p>
        </p:txBody>
      </p:sp>
      <p:sp>
        <p:nvSpPr>
          <p:cNvPr id="17" name="Symbol zastępczy obrazu 9">
            <a:extLst>
              <a:ext uri="{FF2B5EF4-FFF2-40B4-BE49-F238E27FC236}">
                <a16:creationId xmlns:a16="http://schemas.microsoft.com/office/drawing/2014/main" id="{BA5D8DB8-7B4B-D3F2-7E6E-0B1C7CE3A4E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793200" y="2299036"/>
            <a:ext cx="1296000" cy="1728000"/>
          </a:xfrm>
          <a:prstGeom prst="rect">
            <a:avLst/>
          </a:prstGeom>
          <a:noFill/>
        </p:spPr>
        <p:txBody>
          <a:bodyPr lIns="38404" tIns="19202" rIns="38404" bIns="19202" anchor="ctr" anchorCtr="1">
            <a:noAutofit/>
          </a:bodyPr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Wstaw piktogram</a:t>
            </a:r>
          </a:p>
        </p:txBody>
      </p:sp>
    </p:spTree>
    <p:extLst>
      <p:ext uri="{BB962C8B-B14F-4D97-AF65-F5344CB8AC3E}">
        <p14:creationId xmlns:p14="http://schemas.microsoft.com/office/powerpoint/2010/main" val="2098016993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abe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72500" y="666000"/>
            <a:ext cx="6668634" cy="41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30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Strona z tabelą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617" y="629966"/>
            <a:ext cx="749883" cy="81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500" y="1143000"/>
            <a:ext cx="6669000" cy="36933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0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2000">
                <a:solidFill>
                  <a:schemeClr val="tx1"/>
                </a:solidFill>
                <a:latin typeface="+mn-lt"/>
              </a:defRPr>
            </a:lvl2pPr>
            <a:lvl3pPr marL="0" algn="l">
              <a:defRPr sz="2000">
                <a:solidFill>
                  <a:schemeClr val="tx1"/>
                </a:solidFill>
                <a:latin typeface="+mn-lt"/>
              </a:defRPr>
            </a:lvl3pPr>
            <a:lvl4pPr marL="0" algn="l">
              <a:defRPr sz="2000">
                <a:solidFill>
                  <a:schemeClr val="tx1"/>
                </a:solidFill>
                <a:latin typeface="+mn-lt"/>
              </a:defRPr>
            </a:lvl4pPr>
            <a:lvl5pPr marL="0" algn="l"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Podtytuł opcjonalny</a:t>
            </a:r>
          </a:p>
        </p:txBody>
      </p:sp>
      <p:sp>
        <p:nvSpPr>
          <p:cNvPr id="5" name="Symbol zastępczy tekstu 12">
            <a:extLst>
              <a:ext uri="{FF2B5EF4-FFF2-40B4-BE49-F238E27FC236}">
                <a16:creationId xmlns:a16="http://schemas.microsoft.com/office/drawing/2014/main" id="{B4E20F8F-4E0B-A9A4-FD35-F3A0B1A39B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68000" y="5742000"/>
            <a:ext cx="3699000" cy="264876"/>
          </a:xfrm>
          <a:prstGeom prst="rect">
            <a:avLst/>
          </a:prstGeom>
        </p:spPr>
        <p:txBody>
          <a:bodyPr lIns="38404" tIns="19202" rIns="38404" bIns="19202" numCol="1" spcCol="226795">
            <a:noAutofit/>
          </a:bodyPr>
          <a:lstStyle>
            <a:lvl1pPr marL="75598" indent="-75598" algn="l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302393" algn="l"/>
              </a:tabLst>
              <a:defRPr sz="8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272154" algn="l"/>
              </a:tabLst>
              <a:defRPr sz="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defRPr sz="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defRPr sz="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defRPr sz="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* Odsyłacz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>
            <a:lvl1pPr algn="r">
              <a:defRPr sz="1200">
                <a:latin typeface="+mn-lt"/>
              </a:defRPr>
            </a:lvl1pPr>
          </a:lstStyle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‹#›</a:t>
            </a:fld>
            <a:endParaRPr lang="pl-PL" dirty="0">
              <a:solidFill>
                <a:srgbClr val="141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377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Wykres słupkow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72500" y="666000"/>
            <a:ext cx="6668634" cy="41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30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Wykres kolumnowy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617" y="629966"/>
            <a:ext cx="749883" cy="810000"/>
          </a:xfrm>
          <a:prstGeom prst="rect">
            <a:avLst/>
          </a:prstGeom>
        </p:spPr>
      </p:pic>
      <p:sp>
        <p:nvSpPr>
          <p:cNvPr id="5" name="Symbol zastępczy tekstu 12">
            <a:extLst>
              <a:ext uri="{FF2B5EF4-FFF2-40B4-BE49-F238E27FC236}">
                <a16:creationId xmlns:a16="http://schemas.microsoft.com/office/drawing/2014/main" id="{B4E20F8F-4E0B-A9A4-FD35-F3A0B1A39B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72275" y="4876800"/>
            <a:ext cx="1898775" cy="1219200"/>
          </a:xfrm>
          <a:prstGeom prst="rect">
            <a:avLst/>
          </a:prstGeom>
        </p:spPr>
        <p:txBody>
          <a:bodyPr lIns="38404" tIns="19202" rIns="38404" bIns="19202" numCol="1" spcCol="226795">
            <a:no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FontTx/>
              <a:buNone/>
              <a:tabLst>
                <a:tab pos="302393" algn="l"/>
              </a:tabLst>
              <a:defRPr sz="8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272154" algn="l"/>
              </a:tabLst>
              <a:defRPr sz="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4000"/>
              </a:lnSpc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4000"/>
              </a:lnSpc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4000"/>
              </a:lnSpc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Źródło: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>
            <a:lvl1pPr algn="r">
              <a:defRPr sz="1200">
                <a:latin typeface="+mn-lt"/>
              </a:defRPr>
            </a:lvl1pPr>
          </a:lstStyle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‹#›</a:t>
            </a:fld>
            <a:endParaRPr lang="pl-PL" dirty="0">
              <a:solidFill>
                <a:srgbClr val="141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1896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Wykres_kołow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72500" y="666000"/>
            <a:ext cx="6668634" cy="41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30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Wykres kołowy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617" y="629966"/>
            <a:ext cx="749883" cy="810000"/>
          </a:xfrm>
          <a:prstGeom prst="rect">
            <a:avLst/>
          </a:prstGeom>
        </p:spPr>
      </p:pic>
      <p:sp>
        <p:nvSpPr>
          <p:cNvPr id="5" name="Symbol zastępczy tekstu 12">
            <a:extLst>
              <a:ext uri="{FF2B5EF4-FFF2-40B4-BE49-F238E27FC236}">
                <a16:creationId xmlns:a16="http://schemas.microsoft.com/office/drawing/2014/main" id="{B4E20F8F-4E0B-A9A4-FD35-F3A0B1A39B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13784" y="2025000"/>
            <a:ext cx="3457716" cy="533400"/>
          </a:xfrm>
          <a:prstGeom prst="rect">
            <a:avLst/>
          </a:prstGeom>
        </p:spPr>
        <p:txBody>
          <a:bodyPr lIns="0" tIns="0" rIns="0" bIns="0" numCol="1" spcCol="226795">
            <a:no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FontTx/>
              <a:buNone/>
              <a:tabLst>
                <a:tab pos="302393" algn="l"/>
              </a:tabLst>
              <a:defRPr sz="12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272154" algn="l"/>
              </a:tabLst>
              <a:defRPr sz="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4000"/>
              </a:lnSpc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4000"/>
              </a:lnSpc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4000"/>
              </a:lnSpc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Koszt wszystkich projektów (UX, badania, projekty graficzne reklam, informatorów, stron www, treści)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>
            <a:lvl1pPr algn="r">
              <a:defRPr sz="1200">
                <a:latin typeface="+mn-lt"/>
              </a:defRPr>
            </a:lvl1pPr>
          </a:lstStyle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‹#›</a:t>
            </a:fld>
            <a:endParaRPr lang="pl-PL" dirty="0">
              <a:solidFill>
                <a:srgbClr val="141E50"/>
              </a:solidFill>
            </a:endParaRPr>
          </a:p>
        </p:txBody>
      </p:sp>
      <p:pic>
        <p:nvPicPr>
          <p:cNvPr id="4" name="Grafika 3">
            <a:extLst>
              <a:ext uri="{FF2B5EF4-FFF2-40B4-BE49-F238E27FC236}">
                <a16:creationId xmlns:a16="http://schemas.microsoft.com/office/drawing/2014/main" id="{746B8D39-EF5E-F570-FAB1-2375CB811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7776" y="2070000"/>
            <a:ext cx="65363" cy="1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229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Pus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72500" y="666000"/>
            <a:ext cx="6668634" cy="41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30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Tytuł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617" y="629966"/>
            <a:ext cx="749883" cy="810000"/>
          </a:xfrm>
          <a:prstGeom prst="rect">
            <a:avLst/>
          </a:prstGeom>
        </p:spPr>
      </p:pic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>
            <a:lvl1pPr algn="r">
              <a:defRPr sz="1200">
                <a:latin typeface="+mn-lt"/>
              </a:defRPr>
            </a:lvl1pPr>
          </a:lstStyle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‹#›</a:t>
            </a:fld>
            <a:endParaRPr lang="pl-PL" dirty="0">
              <a:solidFill>
                <a:srgbClr val="141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5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7" r:id="rId13"/>
    <p:sldLayoutId id="2147483678" r:id="rId14"/>
  </p:sldLayoutIdLst>
  <p:txStyles>
    <p:titleStyle>
      <a:lvl1pPr algn="ctr" defTabSz="45719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3" indent="-342893" algn="l" defTabSz="45719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4" indent="-285744" algn="l" defTabSz="45719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5" indent="-228595" algn="l" defTabSz="45719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5" indent="-228595" algn="l" defTabSz="45719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55" indent="-228595" algn="l" defTabSz="45719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45" indent="-228595" algn="l" defTabSz="45719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35" indent="-228595" algn="l" defTabSz="45719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25" indent="-228595" algn="l" defTabSz="45719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15" indent="-228595" algn="l" defTabSz="45719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0" algn="l" defTabSz="4571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0" algn="l" defTabSz="4571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0" algn="l" defTabSz="4571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0" algn="l" defTabSz="4571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50" algn="l" defTabSz="4571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40" algn="l" defTabSz="4571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9" algn="l" defTabSz="4571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20" algn="l" defTabSz="4571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72400" y="6400800"/>
            <a:ext cx="880920" cy="2154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defTabSz="914400"/>
            <a:fld id="{B6F15528-21DE-4FAA-801E-634DDDAF4B2B}" type="slidenum">
              <a:rPr lang="pl-PL" kern="0" smtClean="0">
                <a:solidFill>
                  <a:srgbClr val="141E50"/>
                </a:solidFill>
              </a:rPr>
              <a:pPr defTabSz="914400"/>
              <a:t>‹#›</a:t>
            </a:fld>
            <a:endParaRPr lang="pl-PL" kern="0" dirty="0">
              <a:solidFill>
                <a:srgbClr val="141E50"/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18238E0-081A-799A-758E-C8BC36BEB5C7}"/>
              </a:ext>
            </a:extLst>
          </p:cNvPr>
          <p:cNvSpPr txBox="1"/>
          <p:nvPr userDrawn="1"/>
        </p:nvSpPr>
        <p:spPr>
          <a:xfrm>
            <a:off x="3187874" y="6585466"/>
            <a:ext cx="23674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 dirty="0">
                <a:solidFill>
                  <a:srgbClr val="141E50"/>
                </a:solidFill>
              </a:rPr>
              <a:t>Autor: dr inż. Aleksander Rewak </a:t>
            </a:r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193179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eaLnBrk="1" hangingPunct="1">
        <a:defRPr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32905" eaLnBrk="1" hangingPunct="1">
        <a:defRPr>
          <a:latin typeface="+mn-lt"/>
          <a:ea typeface="+mn-ea"/>
          <a:cs typeface="+mn-cs"/>
        </a:defRPr>
      </a:lvl2pPr>
      <a:lvl3pPr marL="465810" eaLnBrk="1" hangingPunct="1">
        <a:defRPr>
          <a:latin typeface="+mn-lt"/>
          <a:ea typeface="+mn-ea"/>
          <a:cs typeface="+mn-cs"/>
        </a:defRPr>
      </a:lvl3pPr>
      <a:lvl4pPr marL="698715" eaLnBrk="1" hangingPunct="1">
        <a:defRPr>
          <a:latin typeface="+mn-lt"/>
          <a:ea typeface="+mn-ea"/>
          <a:cs typeface="+mn-cs"/>
        </a:defRPr>
      </a:lvl4pPr>
      <a:lvl5pPr marL="931620" eaLnBrk="1" hangingPunct="1">
        <a:defRPr>
          <a:latin typeface="+mn-lt"/>
          <a:ea typeface="+mn-ea"/>
          <a:cs typeface="+mn-cs"/>
        </a:defRPr>
      </a:lvl5pPr>
      <a:lvl6pPr marL="1164524" eaLnBrk="1" hangingPunct="1">
        <a:defRPr>
          <a:latin typeface="+mn-lt"/>
          <a:ea typeface="+mn-ea"/>
          <a:cs typeface="+mn-cs"/>
        </a:defRPr>
      </a:lvl6pPr>
      <a:lvl7pPr marL="1397429" eaLnBrk="1" hangingPunct="1">
        <a:defRPr>
          <a:latin typeface="+mn-lt"/>
          <a:ea typeface="+mn-ea"/>
          <a:cs typeface="+mn-cs"/>
        </a:defRPr>
      </a:lvl7pPr>
      <a:lvl8pPr marL="1630334" eaLnBrk="1" hangingPunct="1">
        <a:defRPr>
          <a:latin typeface="+mn-lt"/>
          <a:ea typeface="+mn-ea"/>
          <a:cs typeface="+mn-cs"/>
        </a:defRPr>
      </a:lvl8pPr>
      <a:lvl9pPr marL="1863239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32905" eaLnBrk="1" hangingPunct="1">
        <a:defRPr>
          <a:latin typeface="+mn-lt"/>
          <a:ea typeface="+mn-ea"/>
          <a:cs typeface="+mn-cs"/>
        </a:defRPr>
      </a:lvl2pPr>
      <a:lvl3pPr marL="465810" eaLnBrk="1" hangingPunct="1">
        <a:defRPr>
          <a:latin typeface="+mn-lt"/>
          <a:ea typeface="+mn-ea"/>
          <a:cs typeface="+mn-cs"/>
        </a:defRPr>
      </a:lvl3pPr>
      <a:lvl4pPr marL="698715" eaLnBrk="1" hangingPunct="1">
        <a:defRPr>
          <a:latin typeface="+mn-lt"/>
          <a:ea typeface="+mn-ea"/>
          <a:cs typeface="+mn-cs"/>
        </a:defRPr>
      </a:lvl4pPr>
      <a:lvl5pPr marL="931620" eaLnBrk="1" hangingPunct="1">
        <a:defRPr>
          <a:latin typeface="+mn-lt"/>
          <a:ea typeface="+mn-ea"/>
          <a:cs typeface="+mn-cs"/>
        </a:defRPr>
      </a:lvl5pPr>
      <a:lvl6pPr marL="1164524" eaLnBrk="1" hangingPunct="1">
        <a:defRPr>
          <a:latin typeface="+mn-lt"/>
          <a:ea typeface="+mn-ea"/>
          <a:cs typeface="+mn-cs"/>
        </a:defRPr>
      </a:lvl6pPr>
      <a:lvl7pPr marL="1397429" eaLnBrk="1" hangingPunct="1">
        <a:defRPr>
          <a:latin typeface="+mn-lt"/>
          <a:ea typeface="+mn-ea"/>
          <a:cs typeface="+mn-cs"/>
        </a:defRPr>
      </a:lvl7pPr>
      <a:lvl8pPr marL="1630334" eaLnBrk="1" hangingPunct="1">
        <a:defRPr>
          <a:latin typeface="+mn-lt"/>
          <a:ea typeface="+mn-ea"/>
          <a:cs typeface="+mn-cs"/>
        </a:defRPr>
      </a:lvl8pPr>
      <a:lvl9pPr marL="1863239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3.jpeg"/><Relationship Id="rId5" Type="http://schemas.openxmlformats.org/officeDocument/2006/relationships/image" Target="../media/image12.jp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zure.microsoft.com/en-us/free/students" TargetMode="Externa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" TargetMode="Externa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64F803-50CD-13D6-C83C-A4C027E6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00" y="3072600"/>
            <a:ext cx="8193600" cy="2154720"/>
          </a:xfrm>
        </p:spPr>
        <p:txBody>
          <a:bodyPr>
            <a:normAutofit fontScale="90000"/>
          </a:bodyPr>
          <a:lstStyle/>
          <a:p>
            <a:r>
              <a:rPr lang="pl-PL" dirty="0"/>
              <a:t>Zarządzanie projektami informatycznymi (ZPI) – </a:t>
            </a:r>
            <a:br>
              <a:rPr lang="pl-PL" dirty="0"/>
            </a:br>
            <a:r>
              <a:rPr lang="pl-PL" sz="3600" dirty="0"/>
              <a:t>Laboratoria 1 - Wprowadzenie do projektów IT 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9F3BE3-7387-A04D-B572-5CB6B0E8E2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l-PL" dirty="0"/>
              <a:t>Informatyka (inż.), Semestr V, </a:t>
            </a:r>
          </a:p>
          <a:p>
            <a:r>
              <a:rPr lang="pl-PL" dirty="0"/>
              <a:t>Autor: dr inż. Aleksander </a:t>
            </a:r>
            <a:r>
              <a:rPr lang="pl-PL" dirty="0" err="1"/>
              <a:t>Rewak</a:t>
            </a:r>
            <a:endParaRPr lang="pl-PL" dirty="0"/>
          </a:p>
          <a:p>
            <a:r>
              <a:rPr lang="pl-PL" dirty="0"/>
              <a:t>Wrocław, 2025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4203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BC5BB7-6878-DD0B-53E0-3A5AF2DE4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Witam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6E0209E4-4241-2E8C-1687-C4BE9BD3A3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78825" y="6378575"/>
            <a:ext cx="765175" cy="214313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2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6C3CE02-3A0C-ADCE-F6A6-B915D73F0E90}"/>
              </a:ext>
            </a:extLst>
          </p:cNvPr>
          <p:cNvSpPr txBox="1"/>
          <p:nvPr/>
        </p:nvSpPr>
        <p:spPr>
          <a:xfrm>
            <a:off x="2239877" y="1577448"/>
            <a:ext cx="5616343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1600" b="1" dirty="0"/>
              <a:t>Dr inż. Aleksander Rewak</a:t>
            </a:r>
          </a:p>
          <a:p>
            <a:pPr>
              <a:buNone/>
            </a:pPr>
            <a:r>
              <a:rPr lang="pl-PL" sz="1200" dirty="0"/>
              <a:t>       aleksander.rewak@wroclaw.merito.pl</a:t>
            </a:r>
          </a:p>
          <a:p>
            <a:pPr>
              <a:buNone/>
            </a:pPr>
            <a:endParaRPr lang="pl-PL" sz="1200" b="1" dirty="0"/>
          </a:p>
          <a:p>
            <a:pPr>
              <a:buNone/>
            </a:pPr>
            <a:r>
              <a:rPr lang="pl-PL" sz="1200" b="1" dirty="0"/>
              <a:t>Profil</a:t>
            </a:r>
          </a:p>
          <a:p>
            <a:pPr>
              <a:buNone/>
            </a:pPr>
            <a:r>
              <a:rPr lang="pl-PL" sz="1200" dirty="0"/>
              <a:t>Doświadczony </a:t>
            </a:r>
            <a:r>
              <a:rPr lang="pl-PL" sz="1200" b="1" dirty="0"/>
              <a:t>Menedżer IT</a:t>
            </a:r>
            <a:r>
              <a:rPr lang="pl-PL" sz="1200" dirty="0"/>
              <a:t> (5+ lat i 18+ lat ogółem w IT) z zapleczem technicznym (</a:t>
            </a:r>
            <a:r>
              <a:rPr lang="pl-PL" sz="1200" b="1" dirty="0"/>
              <a:t>stopień doktora</a:t>
            </a:r>
            <a:r>
              <a:rPr lang="pl-PL" sz="1200" dirty="0"/>
              <a:t>) oraz </a:t>
            </a:r>
            <a:r>
              <a:rPr lang="pl-PL" sz="1200" b="1" dirty="0"/>
              <a:t>Członek Zarządu</a:t>
            </a:r>
            <a:r>
              <a:rPr lang="pl-PL" sz="1200" dirty="0"/>
              <a:t> dla IT w Centrum Usług Wspólnych w Polsce.</a:t>
            </a:r>
          </a:p>
          <a:p>
            <a:pPr>
              <a:buNone/>
            </a:pPr>
            <a:r>
              <a:rPr lang="pl-PL" sz="1200" dirty="0"/>
              <a:t>Wykwalifikowany </a:t>
            </a:r>
            <a:r>
              <a:rPr lang="pl-PL" sz="1200" b="1" dirty="0"/>
              <a:t>Kierownik Projektów (PM)</a:t>
            </a:r>
            <a:r>
              <a:rPr lang="pl-PL" sz="1200" dirty="0"/>
              <a:t> w zarządzaniu dużymi programami i projektami w całej Europie (16  krajów), kierujący wielonarodowymi zespołami projektowymi (50+) o budżetach $mln USD. </a:t>
            </a:r>
          </a:p>
          <a:p>
            <a:pPr>
              <a:spcBef>
                <a:spcPts val="600"/>
              </a:spcBef>
              <a:buNone/>
            </a:pPr>
            <a:r>
              <a:rPr lang="pl-PL" sz="1200" b="1" dirty="0"/>
              <a:t>Umiejętności PM:</a:t>
            </a:r>
            <a:br>
              <a:rPr lang="pl-PL" sz="1200" dirty="0"/>
            </a:br>
            <a:r>
              <a:rPr lang="en-US" sz="1200" dirty="0"/>
              <a:t>Certified </a:t>
            </a:r>
            <a:r>
              <a:rPr lang="en-US" sz="1200" dirty="0" err="1"/>
              <a:t>SAFe</a:t>
            </a:r>
            <a:r>
              <a:rPr lang="en-US" sz="1200" dirty="0"/>
              <a:t> 6 Agilist</a:t>
            </a:r>
            <a:r>
              <a:rPr lang="pl-PL" sz="1200" dirty="0"/>
              <a:t>, </a:t>
            </a:r>
            <a:r>
              <a:rPr lang="en-US" sz="1200" dirty="0" err="1"/>
              <a:t>AgilePM</a:t>
            </a:r>
            <a:r>
              <a:rPr lang="en-US" sz="1200" dirty="0"/>
              <a:t> Foundation </a:t>
            </a:r>
            <a:r>
              <a:rPr lang="pl-PL" sz="1200" dirty="0"/>
              <a:t>, </a:t>
            </a:r>
            <a:r>
              <a:rPr lang="en-US" sz="1200" dirty="0"/>
              <a:t>ITIL</a:t>
            </a:r>
            <a:r>
              <a:rPr lang="pl-PL" sz="1200" dirty="0"/>
              <a:t>, </a:t>
            </a:r>
            <a:r>
              <a:rPr lang="en-US" sz="1200" dirty="0"/>
              <a:t>BPI, Lean Sigma Accelerator</a:t>
            </a:r>
            <a:r>
              <a:rPr lang="pl-PL" sz="1200" dirty="0"/>
              <a:t>,</a:t>
            </a:r>
            <a:r>
              <a:rPr lang="en-US" sz="1200" dirty="0"/>
              <a:t> </a:t>
            </a:r>
            <a:r>
              <a:rPr lang="pl-PL" sz="1200" dirty="0"/>
              <a:t>PMI Project management</a:t>
            </a:r>
            <a:endParaRPr lang="pl-PL" sz="1200" b="1" dirty="0"/>
          </a:p>
          <a:p>
            <a:pPr>
              <a:spcBef>
                <a:spcPts val="600"/>
              </a:spcBef>
              <a:buNone/>
            </a:pPr>
            <a:r>
              <a:rPr lang="pl-PL" sz="1200" b="1" dirty="0"/>
              <a:t>Rodzina:</a:t>
            </a:r>
          </a:p>
          <a:p>
            <a:pPr>
              <a:buNone/>
            </a:pPr>
            <a:r>
              <a:rPr lang="pl-PL" sz="1200" dirty="0"/>
              <a:t>Żona, Córka (14) Syn (12)</a:t>
            </a:r>
          </a:p>
          <a:p>
            <a:pPr>
              <a:spcBef>
                <a:spcPts val="600"/>
              </a:spcBef>
              <a:buNone/>
            </a:pPr>
            <a:r>
              <a:rPr lang="pl-PL" sz="1200" b="1" dirty="0"/>
              <a:t>Zainteresowania:</a:t>
            </a:r>
            <a:br>
              <a:rPr lang="pl-PL" sz="1200" dirty="0"/>
            </a:br>
            <a:r>
              <a:rPr lang="pl-PL" sz="1200" dirty="0"/>
              <a:t>AI, Audio Hi-Fi, Muzyka, Kultura i Folklor, MTB, </a:t>
            </a:r>
            <a:r>
              <a:rPr lang="pl-PL" sz="1200" dirty="0" err="1"/>
              <a:t>Żelarstwo</a:t>
            </a:r>
            <a:r>
              <a:rPr lang="pl-PL" sz="1200" dirty="0"/>
              <a:t>, Narty, Badminton 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775C4D38-3FA7-37D2-E83B-1118ED60A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00" y="1631423"/>
            <a:ext cx="1608091" cy="2009211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D286A6B1-FEE5-F71F-9CD4-3AEE87256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pic>
        <p:nvPicPr>
          <p:cNvPr id="4100" name="Obraz 7">
            <a:extLst>
              <a:ext uri="{FF2B5EF4-FFF2-40B4-BE49-F238E27FC236}">
                <a16:creationId xmlns:a16="http://schemas.microsoft.com/office/drawing/2014/main" id="{E1A09FF1-CFDE-D8C3-FF25-BA3C47D5F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797" y="1923112"/>
            <a:ext cx="1587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Symbol zastępczy zawartości 3">
            <a:extLst>
              <a:ext uri="{FF2B5EF4-FFF2-40B4-BE49-F238E27FC236}">
                <a16:creationId xmlns:a16="http://schemas.microsoft.com/office/drawing/2014/main" id="{0036055B-ABE0-8429-F0F9-1BCEAE1BA3D4}"/>
              </a:ext>
            </a:extLst>
          </p:cNvPr>
          <p:cNvPicPr>
            <a:picLocks noGrp="1"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63" y="5280552"/>
            <a:ext cx="2518203" cy="1549027"/>
          </a:xfrm>
          <a:prstGeom prst="rect">
            <a:avLst/>
          </a:prstGeom>
        </p:spPr>
      </p:pic>
      <p:pic>
        <p:nvPicPr>
          <p:cNvPr id="16" name="Picture 2" descr="7a98e007-ad38-47d4-8413-ccdacc29a7ec@ppg">
            <a:extLst>
              <a:ext uri="{FF2B5EF4-FFF2-40B4-BE49-F238E27FC236}">
                <a16:creationId xmlns:a16="http://schemas.microsoft.com/office/drawing/2014/main" id="{2B7C1471-8F5B-5388-4D4F-F4EE2FB7D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654053" y="5457168"/>
            <a:ext cx="1555311" cy="1189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180E08D3-4EE2-D569-90C4-C9A32725D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6463" y="5239567"/>
            <a:ext cx="1189510" cy="1590010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79F4007C-4C3E-ED82-21AD-46A9B0134F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5973" y="5247942"/>
            <a:ext cx="1509125" cy="1581635"/>
          </a:xfrm>
          <a:prstGeom prst="rect">
            <a:avLst/>
          </a:prstGeom>
        </p:spPr>
      </p:pic>
      <p:pic>
        <p:nvPicPr>
          <p:cNvPr id="22" name="Obraz 21">
            <a:extLst>
              <a:ext uri="{FF2B5EF4-FFF2-40B4-BE49-F238E27FC236}">
                <a16:creationId xmlns:a16="http://schemas.microsoft.com/office/drawing/2014/main" id="{FA162B71-597C-2918-C379-EB67996505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2066" y="5280552"/>
            <a:ext cx="1084888" cy="1549027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C50D4388-AE64-5A60-DE41-71629C47E4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5098" y="5247942"/>
            <a:ext cx="1172384" cy="1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50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2B05-6066-3685-0EF2-8ED284D6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89443B-8EB3-C373-4A75-132617AD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Agenda</a:t>
            </a:r>
          </a:p>
        </p:txBody>
      </p:sp>
      <p:sp>
        <p:nvSpPr>
          <p:cNvPr id="7" name="Symbol zastępczy tekstu 4">
            <a:extLst>
              <a:ext uri="{FF2B5EF4-FFF2-40B4-BE49-F238E27FC236}">
                <a16:creationId xmlns:a16="http://schemas.microsoft.com/office/drawing/2014/main" id="{6273D38E-85A8-3EAE-A40E-2D61E5AE7D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500" y="1661700"/>
            <a:ext cx="8322250" cy="4789900"/>
          </a:xfrm>
        </p:spPr>
        <p:txBody>
          <a:bodyPr/>
          <a:lstStyle/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l-PL" sz="1800" b="1" dirty="0"/>
              <a:t>Cel: </a:t>
            </a:r>
            <a:r>
              <a:rPr lang="pl-PL" sz="1800" dirty="0"/>
              <a:t>Wprowadzenie do projektów IT i </a:t>
            </a:r>
            <a:r>
              <a:rPr lang="pl-PL" sz="1800" dirty="0" err="1"/>
              <a:t>Azure</a:t>
            </a:r>
            <a:r>
              <a:rPr lang="pl-PL" sz="1800" dirty="0"/>
              <a:t> </a:t>
            </a:r>
            <a:r>
              <a:rPr lang="pl-PL" sz="1800" dirty="0" err="1"/>
              <a:t>DevOps</a:t>
            </a:r>
            <a:endParaRPr lang="pl-PL" sz="1800" dirty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l-PL" sz="1800" b="1" dirty="0"/>
              <a:t>Zakres: </a:t>
            </a:r>
            <a:endParaRPr lang="pl-PL" sz="1800" dirty="0"/>
          </a:p>
          <a:p>
            <a:pPr marL="671225" lvl="4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pl-PL" sz="1800" dirty="0"/>
              <a:t>Organizacyjne - Karta Przedmiotu i plan zajęć (15 min)</a:t>
            </a:r>
          </a:p>
          <a:p>
            <a:pPr marL="671225" lvl="4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pl-PL" sz="1800" dirty="0"/>
              <a:t>Wstęp teoretyczny (10–15 min)</a:t>
            </a:r>
          </a:p>
          <a:p>
            <a:pPr marL="671225" lvl="4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pl-PL" sz="1800" dirty="0"/>
              <a:t>Prezentacja </a:t>
            </a:r>
            <a:r>
              <a:rPr lang="pl-PL" sz="1800" dirty="0" err="1"/>
              <a:t>Azure</a:t>
            </a:r>
            <a:r>
              <a:rPr lang="pl-PL" sz="1800" dirty="0"/>
              <a:t> </a:t>
            </a:r>
            <a:r>
              <a:rPr lang="pl-PL" sz="1800" dirty="0" err="1"/>
              <a:t>DevOps</a:t>
            </a:r>
            <a:r>
              <a:rPr lang="pl-PL" sz="1800" dirty="0"/>
              <a:t> (</a:t>
            </a:r>
            <a:r>
              <a:rPr lang="pl-PL" sz="1800" dirty="0" err="1"/>
              <a:t>Boards</a:t>
            </a:r>
            <a:r>
              <a:rPr lang="pl-PL" sz="1800" dirty="0"/>
              <a:t>, </a:t>
            </a:r>
            <a:r>
              <a:rPr lang="pl-PL" sz="1800" dirty="0" err="1"/>
              <a:t>Repos</a:t>
            </a:r>
            <a:r>
              <a:rPr lang="pl-PL" sz="1800" dirty="0"/>
              <a:t>, </a:t>
            </a:r>
            <a:r>
              <a:rPr lang="pl-PL" sz="1800" dirty="0" err="1"/>
              <a:t>Pipelines</a:t>
            </a:r>
            <a:r>
              <a:rPr lang="pl-PL" sz="1800" dirty="0"/>
              <a:t>, Wiki) (10 min)</a:t>
            </a:r>
          </a:p>
          <a:p>
            <a:pPr marL="671225" lvl="4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pl-PL" dirty="0"/>
              <a:t>Podział na grupy i wybór tematu projektu (np.  e-sklep) (15 min)</a:t>
            </a:r>
            <a:endParaRPr lang="pl-PL" sz="2800" dirty="0"/>
          </a:p>
          <a:p>
            <a:pPr marL="671225" lvl="4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pl-PL" dirty="0"/>
              <a:t>Utworzenie projektu w </a:t>
            </a:r>
            <a:r>
              <a:rPr lang="pl-PL" dirty="0" err="1"/>
              <a:t>DevOps</a:t>
            </a:r>
            <a:endParaRPr lang="pl-PL" sz="2800" dirty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l-PL" sz="1800" b="1" dirty="0"/>
              <a:t>Rezultat: </a:t>
            </a:r>
            <a:r>
              <a:rPr lang="pl-PL" sz="1800" dirty="0"/>
              <a:t>Utworzenie w </a:t>
            </a:r>
            <a:r>
              <a:rPr lang="pl-PL" sz="1800" dirty="0" err="1"/>
              <a:t>Azure</a:t>
            </a:r>
            <a:r>
              <a:rPr lang="pl-PL" sz="1800" dirty="0"/>
              <a:t> </a:t>
            </a:r>
            <a:r>
              <a:rPr lang="pl-PL" sz="1800" dirty="0" err="1"/>
              <a:t>DevOps</a:t>
            </a:r>
            <a:r>
              <a:rPr lang="pl-PL" sz="1800" dirty="0"/>
              <a:t>: </a:t>
            </a:r>
          </a:p>
          <a:p>
            <a:pPr marL="540000" lvl="4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l-PL" sz="1800" dirty="0"/>
              <a:t>Konta</a:t>
            </a:r>
          </a:p>
          <a:p>
            <a:pPr marL="540000" lvl="4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l-PL" sz="1800" dirty="0"/>
              <a:t>Projektu</a:t>
            </a:r>
          </a:p>
          <a:p>
            <a:pPr marL="540000" lvl="4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l-PL" sz="1800" dirty="0"/>
              <a:t>Zespołu  </a:t>
            </a:r>
          </a:p>
          <a:p>
            <a:pPr marL="540000" lvl="4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l-PL" sz="1800" dirty="0"/>
              <a:t>Wizja Produktu w Wiki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pl-PL" sz="18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pl-PL" sz="1800" dirty="0"/>
          </a:p>
          <a:p>
            <a:pPr marL="378" lvl="1" indent="0">
              <a:lnSpc>
                <a:spcPct val="100000"/>
              </a:lnSpc>
              <a:buNone/>
            </a:pPr>
            <a:endParaRPr lang="pl-PL" dirty="0"/>
          </a:p>
          <a:p>
            <a:pPr marL="378" lvl="1" indent="0">
              <a:buNone/>
            </a:pPr>
            <a:endParaRPr lang="pl-PL" dirty="0"/>
          </a:p>
          <a:p>
            <a:pPr lvl="1"/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C3B086A8-000D-B88D-1004-BE6D97BA83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78825" y="6378575"/>
            <a:ext cx="765175" cy="214313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3</a:t>
            </a:fld>
            <a:endParaRPr lang="pl-PL" dirty="0">
              <a:solidFill>
                <a:srgbClr val="141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19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CB986-C29E-440C-4B17-48E86DF6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B0F9F1-15FF-629F-0042-8C11D3A7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zaliczenia</a:t>
            </a:r>
          </a:p>
        </p:txBody>
      </p:sp>
      <p:sp>
        <p:nvSpPr>
          <p:cNvPr id="7" name="Symbol zastępczy tekstu 4">
            <a:extLst>
              <a:ext uri="{FF2B5EF4-FFF2-40B4-BE49-F238E27FC236}">
                <a16:creationId xmlns:a16="http://schemas.microsoft.com/office/drawing/2014/main" id="{9A79FA49-970A-5A55-D54C-DB84FD943A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500" y="1769380"/>
            <a:ext cx="8322250" cy="4707620"/>
          </a:xfrm>
        </p:spPr>
        <p:txBody>
          <a:bodyPr/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Na ocenę końcową składają się:</a:t>
            </a:r>
          </a:p>
          <a:p>
            <a:pPr marL="8280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dirty="0"/>
              <a:t>Egzamin zaliczeniowy - w formie testu jednokrotnego wyboru oraz pytań otwartych (na zaliczenie wymagane jest min. 51% punktów), </a:t>
            </a:r>
          </a:p>
          <a:p>
            <a:pPr marL="8280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dirty="0"/>
              <a:t>Projekt realizowany w zespołach (ocena punktowa zgodnie z podanymi kryteriami oceniania, na zaliczenie wymagane jest min. 51% punktów)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Obie formy muszą być zaliczone. Oceny końcowa:50% egzamin i 50% projekt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Wykład – Egzamin na ostatnich zajęciach tj.  10.12.2025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Na termin poprawkowy są 2 tygodnie po ostatnim spotkaniu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Projekt/Laboratoria – prezentacja projektu w </a:t>
            </a:r>
            <a:r>
              <a:rPr lang="pl-PL" dirty="0" err="1"/>
              <a:t>Azure</a:t>
            </a:r>
            <a:r>
              <a:rPr lang="pl-PL" dirty="0"/>
              <a:t> </a:t>
            </a:r>
            <a:r>
              <a:rPr lang="pl-PL" dirty="0" err="1"/>
              <a:t>DevOps</a:t>
            </a:r>
            <a:r>
              <a:rPr lang="pl-PL" dirty="0"/>
              <a:t> – ostatnie i przedostatnie zajęcia</a:t>
            </a:r>
          </a:p>
          <a:p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A47C4CE3-D06F-BE77-ADB8-F69EB962F38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78825" y="6378575"/>
            <a:ext cx="765175" cy="214313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4</a:t>
            </a:fld>
            <a:endParaRPr lang="pl-PL" dirty="0">
              <a:solidFill>
                <a:srgbClr val="141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466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64FD-5B71-914D-16F8-64FED8FF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AC862A-DBF7-4CA9-2246-1377B929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Organizacyjne</a:t>
            </a:r>
          </a:p>
        </p:txBody>
      </p:sp>
      <p:sp>
        <p:nvSpPr>
          <p:cNvPr id="7" name="Symbol zastępczy tekstu 4">
            <a:extLst>
              <a:ext uri="{FF2B5EF4-FFF2-40B4-BE49-F238E27FC236}">
                <a16:creationId xmlns:a16="http://schemas.microsoft.com/office/drawing/2014/main" id="{B821A5D7-136C-3437-BC79-F5B09892E7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500" y="1661700"/>
            <a:ext cx="8322250" cy="4789900"/>
          </a:xfrm>
        </p:spPr>
        <p:txBody>
          <a:bodyPr/>
          <a:lstStyle/>
          <a:p>
            <a:r>
              <a:rPr lang="pl-PL" b="1" dirty="0"/>
              <a:t>Kontrakt: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Współpraca i szacunek!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Aktywne wspieranie kolegów z grupy jest premiowane. Dzielenie się wiedzą jest oczekiwane, ale </a:t>
            </a:r>
            <a:r>
              <a:rPr lang="pl-PL" b="1" dirty="0"/>
              <a:t>kopiowanie rozwiązań nie.</a:t>
            </a:r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Jeśli jest jakiś problem lub nieporozumienie zachęcam do kontaktu a na pewno znajdziemy rozwiązanie.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Zapraszam na zajęcia zgodnie z planem - stacjonarnie lub online.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Dopuszczalna liczba nieobecności – zgodnie z regulaminem (50%).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Platforma </a:t>
            </a:r>
            <a:r>
              <a:rPr lang="pl-PL" dirty="0" err="1"/>
              <a:t>Moodle</a:t>
            </a:r>
            <a:r>
              <a:rPr lang="pl-PL" dirty="0"/>
              <a:t> – </a:t>
            </a:r>
            <a:r>
              <a:rPr lang="pl-PL" dirty="0" err="1"/>
              <a:t>matriały</a:t>
            </a:r>
            <a:r>
              <a:rPr lang="pl-P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 err="1"/>
              <a:t>Teams</a:t>
            </a:r>
            <a:r>
              <a:rPr lang="pl-PL" dirty="0"/>
              <a:t> – zajęcia online.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E-mail - z kont z domeny uczelnianej, odpowiem (ale nie w nocy).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AI – dla mnie ok, ale należy rozumieć i umieć wytłumaczyć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dirty="0"/>
          </a:p>
          <a:p>
            <a:r>
              <a:rPr lang="pl-PL" b="1" dirty="0"/>
              <a:t>Konsultacje Wtorki godz. 17:00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pl-PL" sz="18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pl-PL" sz="1800" dirty="0"/>
          </a:p>
          <a:p>
            <a:pPr marL="378" lvl="1" indent="0">
              <a:lnSpc>
                <a:spcPct val="100000"/>
              </a:lnSpc>
              <a:buNone/>
            </a:pPr>
            <a:endParaRPr lang="pl-PL" dirty="0"/>
          </a:p>
          <a:p>
            <a:pPr marL="378" lvl="1" indent="0">
              <a:buNone/>
            </a:pPr>
            <a:endParaRPr lang="pl-PL" dirty="0"/>
          </a:p>
          <a:p>
            <a:pPr lvl="1"/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2524F07E-1F10-2A1B-5D3D-3EFB7CB955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78825" y="6378575"/>
            <a:ext cx="765175" cy="214313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5</a:t>
            </a:fld>
            <a:endParaRPr lang="pl-PL" dirty="0">
              <a:solidFill>
                <a:srgbClr val="141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35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85DB-EFC3-049F-3A56-8C3F7A8D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79E08F-AB40-0B95-9435-991EF4F5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Karta Przedmiotu i plan zajęć</a:t>
            </a:r>
          </a:p>
        </p:txBody>
      </p:sp>
      <p:sp>
        <p:nvSpPr>
          <p:cNvPr id="7" name="Symbol zastępczy tekstu 4">
            <a:extLst>
              <a:ext uri="{FF2B5EF4-FFF2-40B4-BE49-F238E27FC236}">
                <a16:creationId xmlns:a16="http://schemas.microsoft.com/office/drawing/2014/main" id="{A5AD6E40-480F-AA97-178B-893D04C36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500" y="1447387"/>
            <a:ext cx="4026613" cy="1355448"/>
          </a:xfrm>
        </p:spPr>
        <p:txBody>
          <a:bodyPr/>
          <a:lstStyle/>
          <a:p>
            <a:r>
              <a:rPr lang="pl-PL" b="1" dirty="0"/>
              <a:t>Materiały i platforma </a:t>
            </a:r>
            <a:r>
              <a:rPr lang="pl-PL" b="1" dirty="0" err="1"/>
              <a:t>Moodle</a:t>
            </a:r>
            <a:r>
              <a:rPr lang="pl-PL" b="1" dirty="0"/>
              <a:t>:</a:t>
            </a:r>
          </a:p>
          <a:p>
            <a:pPr marL="285750" lvl="1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800" dirty="0"/>
              <a:t>Karta Przedmiotu</a:t>
            </a:r>
          </a:p>
          <a:p>
            <a:pPr marL="285750" lvl="1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800" dirty="0"/>
              <a:t>Materiały na laboratoria</a:t>
            </a:r>
          </a:p>
          <a:p>
            <a:pPr marL="378" lvl="1" indent="0">
              <a:lnSpc>
                <a:spcPct val="100000"/>
              </a:lnSpc>
              <a:buNone/>
            </a:pPr>
            <a:endParaRPr lang="pl-PL" dirty="0"/>
          </a:p>
          <a:p>
            <a:pPr marL="378" lvl="1" indent="0">
              <a:buNone/>
            </a:pPr>
            <a:endParaRPr lang="pl-PL" dirty="0"/>
          </a:p>
          <a:p>
            <a:pPr lvl="1"/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8AC6D6BD-1D82-665A-134F-6AD22F1D7D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78825" y="6378575"/>
            <a:ext cx="765175" cy="214313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6</a:t>
            </a:fld>
            <a:endParaRPr lang="pl-PL" dirty="0">
              <a:solidFill>
                <a:srgbClr val="141E50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FB30695-D002-A1B7-23C8-30EA8F3D1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44279"/>
              </p:ext>
            </p:extLst>
          </p:nvPr>
        </p:nvGraphicFramePr>
        <p:xfrm>
          <a:off x="628650" y="2624660"/>
          <a:ext cx="7886700" cy="3968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355">
                  <a:extLst>
                    <a:ext uri="{9D8B030D-6E8A-4147-A177-3AD203B41FA5}">
                      <a16:colId xmlns:a16="http://schemas.microsoft.com/office/drawing/2014/main" val="853116168"/>
                    </a:ext>
                  </a:extLst>
                </a:gridCol>
                <a:gridCol w="908090">
                  <a:extLst>
                    <a:ext uri="{9D8B030D-6E8A-4147-A177-3AD203B41FA5}">
                      <a16:colId xmlns:a16="http://schemas.microsoft.com/office/drawing/2014/main" val="556696438"/>
                    </a:ext>
                  </a:extLst>
                </a:gridCol>
                <a:gridCol w="2798908">
                  <a:extLst>
                    <a:ext uri="{9D8B030D-6E8A-4147-A177-3AD203B41FA5}">
                      <a16:colId xmlns:a16="http://schemas.microsoft.com/office/drawing/2014/main" val="3597271860"/>
                    </a:ext>
                  </a:extLst>
                </a:gridCol>
                <a:gridCol w="870771">
                  <a:extLst>
                    <a:ext uri="{9D8B030D-6E8A-4147-A177-3AD203B41FA5}">
                      <a16:colId xmlns:a16="http://schemas.microsoft.com/office/drawing/2014/main" val="3440751090"/>
                    </a:ext>
                  </a:extLst>
                </a:gridCol>
                <a:gridCol w="547342">
                  <a:extLst>
                    <a:ext uri="{9D8B030D-6E8A-4147-A177-3AD203B41FA5}">
                      <a16:colId xmlns:a16="http://schemas.microsoft.com/office/drawing/2014/main" val="1032021331"/>
                    </a:ext>
                  </a:extLst>
                </a:gridCol>
                <a:gridCol w="447825">
                  <a:extLst>
                    <a:ext uri="{9D8B030D-6E8A-4147-A177-3AD203B41FA5}">
                      <a16:colId xmlns:a16="http://schemas.microsoft.com/office/drawing/2014/main" val="776579737"/>
                    </a:ext>
                  </a:extLst>
                </a:gridCol>
                <a:gridCol w="348309">
                  <a:extLst>
                    <a:ext uri="{9D8B030D-6E8A-4147-A177-3AD203B41FA5}">
                      <a16:colId xmlns:a16="http://schemas.microsoft.com/office/drawing/2014/main" val="3345624768"/>
                    </a:ext>
                  </a:extLst>
                </a:gridCol>
                <a:gridCol w="597100">
                  <a:extLst>
                    <a:ext uri="{9D8B030D-6E8A-4147-A177-3AD203B41FA5}">
                      <a16:colId xmlns:a16="http://schemas.microsoft.com/office/drawing/2014/main" val="1817786910"/>
                    </a:ext>
                  </a:extLst>
                </a:gridCol>
              </a:tblGrid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Środa: 15.10.2025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08:00-09:30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'IAM1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839928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Środa: 15.10.2026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09:45-11:15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IAM2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984980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Środa: 15.10.2027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11:30-13:00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'ISIT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025476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'Środa: 22.10.2025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08:00-09:30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'IAM1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078001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22.10.2025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09:45-11:15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IAM2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799203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22.10.2025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11:30-13:00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'ISIT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511172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29.10.2025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08:00-09:30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'IAM1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247662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29.10.2025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09:45-11:15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IAM2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949967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29.10.2025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11:30-13:00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'ISIT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957647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05.11.2025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08:00-09:30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'IAM1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036585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05.11.2025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09:45-11:15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IAM2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59539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05.11.2025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11:30-13:00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'ISIT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268191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19.11.2025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08:00-09:30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'IAM1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214427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19.11.2025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09:45-11:15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IAM2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162676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19.11.2025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11:30-13:00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'ISIT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71288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26.11.2025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08:00-09:30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'IAM1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79276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26.11.2025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09:45-11:15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IAM2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787515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26.11.2025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11:30-13:00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'ISIT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095664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03.12.2025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08:00-09:30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'IAM1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STAC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 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789356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03.12.2025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09:45-11:15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IAM2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 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2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08613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'Środa: 03.12.2025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11:30-13:00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'ISIT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2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 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544070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Środa: 10.12.2025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08:00-09:30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Zarządzanie projektami informatycznymi - lab. 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'IAM1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STAC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2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 dirty="0">
                          <a:effectLst/>
                        </a:rPr>
                        <a:t> 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20" marR="6220" marT="62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06611"/>
                  </a:ext>
                </a:extLst>
              </a:tr>
            </a:tbl>
          </a:graphicData>
        </a:graphic>
      </p:graphicFrame>
      <p:graphicFrame>
        <p:nvGraphicFramePr>
          <p:cNvPr id="8" name="Obiekt 7">
            <a:extLst>
              <a:ext uri="{FF2B5EF4-FFF2-40B4-BE49-F238E27FC236}">
                <a16:creationId xmlns:a16="http://schemas.microsoft.com/office/drawing/2014/main" id="{E2131AA1-21CB-F829-4CA1-DBD0FC0917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070941"/>
              </p:ext>
            </p:extLst>
          </p:nvPr>
        </p:nvGraphicFramePr>
        <p:xfrm>
          <a:off x="5384133" y="1818210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2" imgW="914597" imgH="806406" progId="Package">
                  <p:embed/>
                </p:oleObj>
              </mc:Choice>
              <mc:Fallback>
                <p:oleObj name="Obiekt powłoki pakowarki" showAsIcon="1" r:id="rId2" imgW="914597" imgH="80640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84133" y="1818210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5437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7429E-F8E2-5312-2E5C-358A04FF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653891-CF17-A8AC-645A-A2CEC66B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Sesja burzy mózgów</a:t>
            </a:r>
          </a:p>
        </p:txBody>
      </p:sp>
      <p:sp>
        <p:nvSpPr>
          <p:cNvPr id="7" name="Symbol zastępczy tekstu 4">
            <a:extLst>
              <a:ext uri="{FF2B5EF4-FFF2-40B4-BE49-F238E27FC236}">
                <a16:creationId xmlns:a16="http://schemas.microsoft.com/office/drawing/2014/main" id="{49DF6894-593E-825C-47DF-576C302535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500" y="1661700"/>
            <a:ext cx="8322250" cy="4789900"/>
          </a:xfrm>
        </p:spPr>
        <p:txBody>
          <a:bodyPr/>
          <a:lstStyle/>
          <a:p>
            <a:pPr marL="285750" lvl="1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800" b="1" dirty="0"/>
              <a:t>Czym się różni projekt od działania</a:t>
            </a:r>
          </a:p>
          <a:p>
            <a:pPr marL="285750" lvl="1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pl-PL" sz="1800" b="1" dirty="0"/>
          </a:p>
          <a:p>
            <a:pPr marL="285750" lvl="1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800" b="1" dirty="0"/>
              <a:t>Jakie mamy rodzaje projektów IT </a:t>
            </a:r>
            <a:r>
              <a:rPr lang="pl-PL" sz="1800" dirty="0"/>
              <a:t>(czego dotyczą, co tworzymy lub zmieniamy)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pl-PL" sz="18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pl-PL" sz="1800" dirty="0"/>
          </a:p>
          <a:p>
            <a:pPr marL="378" lvl="1" indent="0">
              <a:lnSpc>
                <a:spcPct val="100000"/>
              </a:lnSpc>
              <a:buNone/>
            </a:pPr>
            <a:endParaRPr lang="pl-PL" dirty="0"/>
          </a:p>
          <a:p>
            <a:pPr marL="378" lvl="1" indent="0">
              <a:buNone/>
            </a:pPr>
            <a:endParaRPr lang="pl-PL" dirty="0"/>
          </a:p>
          <a:p>
            <a:pPr lvl="1"/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C007863C-880D-436C-D123-0F1B822C2D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78825" y="6378575"/>
            <a:ext cx="765175" cy="214313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7</a:t>
            </a:fld>
            <a:endParaRPr lang="pl-PL" dirty="0">
              <a:solidFill>
                <a:srgbClr val="141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29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BC5BB7-6878-DD0B-53E0-3A5AF2DE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0" y="666000"/>
            <a:ext cx="6668634" cy="414000"/>
          </a:xfrm>
        </p:spPr>
        <p:txBody>
          <a:bodyPr/>
          <a:lstStyle/>
          <a:p>
            <a:r>
              <a:rPr lang="pl-PL" dirty="0"/>
              <a:t>Czym jest projekt wg PMI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B7D7356-A5A7-5116-DF43-DBC53FC443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62" y="1496060"/>
            <a:ext cx="8214301" cy="4950460"/>
          </a:xfrm>
        </p:spPr>
        <p:txBody>
          <a:bodyPr/>
          <a:lstStyle/>
          <a:p>
            <a:pPr lvl="1"/>
            <a:r>
              <a:rPr lang="pl-PL" sz="1800" b="1" dirty="0"/>
              <a:t>Definicja wg Project Management </a:t>
            </a:r>
            <a:r>
              <a:rPr lang="pl-PL" sz="1800" b="1" dirty="0" err="1"/>
              <a:t>Institute</a:t>
            </a:r>
            <a:r>
              <a:rPr lang="pl-PL" sz="1800" b="1" dirty="0"/>
              <a:t> (PMI): </a:t>
            </a:r>
            <a:r>
              <a:rPr lang="pl-PL" sz="1800" dirty="0"/>
              <a:t>„Tymczasowe przedsięwzięcie podejmowane w celu stworzenia unikalnego produktu, usługi lub rezultatu”.</a:t>
            </a:r>
          </a:p>
          <a:p>
            <a:pPr lvl="1"/>
            <a:r>
              <a:rPr lang="pl-PL" sz="1800" b="1" dirty="0"/>
              <a:t>Kluczowe cechy projektu</a:t>
            </a:r>
            <a:r>
              <a:rPr lang="pl-PL" sz="1800" dirty="0"/>
              <a:t> (Projekt ≠ rutynowe działania):</a:t>
            </a:r>
          </a:p>
          <a:p>
            <a:pPr marL="540000" lvl="4" indent="-285750">
              <a:buFont typeface="Wingdings" panose="05000000000000000000" pitchFamily="2" charset="2"/>
              <a:buChar char="Ø"/>
            </a:pPr>
            <a:r>
              <a:rPr lang="pl-PL" b="1" dirty="0"/>
              <a:t>Tymczasowość</a:t>
            </a:r>
            <a:r>
              <a:rPr lang="pl-PL" dirty="0"/>
              <a:t>: Projekt ma zdefiniowany początek i koniec. Nie jest to działanie ciągłe ale nie oznacza krótkiego czasu trwania.</a:t>
            </a:r>
          </a:p>
          <a:p>
            <a:pPr marL="540000" lvl="4" indent="-285750">
              <a:buFont typeface="Wingdings" panose="05000000000000000000" pitchFamily="2" charset="2"/>
              <a:buChar char="Ø"/>
            </a:pPr>
            <a:r>
              <a:rPr lang="pl-PL" b="1" dirty="0"/>
              <a:t>Unikalność: </a:t>
            </a:r>
            <a:r>
              <a:rPr lang="pl-PL" dirty="0"/>
              <a:t>Projekt tworzy niepowtarzalny produkt, usługę lub rezultat, który różni się od dotychczasowych działań.</a:t>
            </a:r>
          </a:p>
          <a:p>
            <a:pPr lvl="1"/>
            <a:endParaRPr lang="pl-PL" dirty="0"/>
          </a:p>
          <a:p>
            <a:pPr marL="378" lvl="1" indent="0">
              <a:buNone/>
            </a:pPr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6E0209E4-4241-2E8C-1687-C4BE9BD3A3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8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3" name="Objaśnienie prostokątne zaokrąglone 2"/>
          <p:cNvSpPr/>
          <p:nvPr/>
        </p:nvSpPr>
        <p:spPr>
          <a:xfrm>
            <a:off x="5635617" y="4546600"/>
            <a:ext cx="2484120" cy="604520"/>
          </a:xfrm>
          <a:prstGeom prst="wedgeRoundRectCallout">
            <a:avLst>
              <a:gd name="adj1" fmla="val -15516"/>
              <a:gd name="adj2" fmla="val 952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Jaki był Twój ostatni projekt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/>
              <p:cNvSpPr txBox="1"/>
              <p:nvPr/>
            </p:nvSpPr>
            <p:spPr>
              <a:xfrm>
                <a:off x="6268720" y="5494339"/>
                <a:ext cx="68072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60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?</m:t>
                      </m:r>
                    </m:oMath>
                  </m:oMathPara>
                </a14:m>
                <a:endParaRPr lang="pl-PL" sz="6000" i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pole tekstow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720" y="5494339"/>
                <a:ext cx="680720" cy="101566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799" y="4212123"/>
            <a:ext cx="2636975" cy="2165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232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BC5BB7-6878-DD0B-53E0-3A5AF2DE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0" y="666000"/>
            <a:ext cx="6668634" cy="414000"/>
          </a:xfrm>
        </p:spPr>
        <p:txBody>
          <a:bodyPr/>
          <a:lstStyle/>
          <a:p>
            <a:r>
              <a:rPr lang="pl-PL" dirty="0"/>
              <a:t>Projekty vs procesy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B7D7356-A5A7-5116-DF43-DBC53FC443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62" y="1496060"/>
            <a:ext cx="8214301" cy="4950460"/>
          </a:xfrm>
        </p:spPr>
        <p:txBody>
          <a:bodyPr/>
          <a:lstStyle/>
          <a:p>
            <a:pPr lvl="1"/>
            <a:r>
              <a:rPr lang="pl-PL" sz="1800" b="1" dirty="0"/>
              <a:t>Projekt</a:t>
            </a:r>
            <a:r>
              <a:rPr lang="pl-PL" sz="1800" dirty="0"/>
              <a:t>: unikalny, ograniczony w czasie, ma cel i wynik.</a:t>
            </a:r>
          </a:p>
          <a:p>
            <a:pPr lvl="1"/>
            <a:r>
              <a:rPr lang="pl-PL" sz="1800" b="1" dirty="0"/>
              <a:t>Proces</a:t>
            </a:r>
            <a:r>
              <a:rPr lang="pl-PL" sz="1800" dirty="0"/>
              <a:t>: powtarzalny, stały, nastawiony na utrzymanie i efektywność.</a:t>
            </a:r>
          </a:p>
          <a:p>
            <a:pPr lvl="1"/>
            <a:r>
              <a:rPr lang="pl-PL" sz="1800" b="1" dirty="0"/>
              <a:t>Przykład</a:t>
            </a:r>
            <a:r>
              <a:rPr lang="pl-PL" sz="1800" dirty="0"/>
              <a:t>: projekt wdrożenia systemu ERP vs proces obsługi zgłoszeń helpdesk.</a:t>
            </a:r>
          </a:p>
          <a:p>
            <a:pPr lvl="1"/>
            <a:endParaRPr lang="pl-PL" dirty="0"/>
          </a:p>
          <a:p>
            <a:pPr lvl="1"/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6E0209E4-4241-2E8C-1687-C4BE9BD3A3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9</a:t>
            </a:fld>
            <a:endParaRPr lang="pl-PL" dirty="0">
              <a:solidFill>
                <a:srgbClr val="141E5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202" y="3657751"/>
            <a:ext cx="2794318" cy="2788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9789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BC5BB7-6878-DD0B-53E0-3A5AF2DE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0" y="666000"/>
            <a:ext cx="6668634" cy="414000"/>
          </a:xfrm>
        </p:spPr>
        <p:txBody>
          <a:bodyPr/>
          <a:lstStyle/>
          <a:p>
            <a:r>
              <a:rPr lang="pl-PL" dirty="0"/>
              <a:t>Triada ograniczeń projektu 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B7D7356-A5A7-5116-DF43-DBC53FC443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62" y="1496060"/>
            <a:ext cx="8214301" cy="4950460"/>
          </a:xfrm>
        </p:spPr>
        <p:txBody>
          <a:bodyPr/>
          <a:lstStyle/>
          <a:p>
            <a:pPr marL="378" lvl="1" indent="0">
              <a:buNone/>
            </a:pPr>
            <a:endParaRPr lang="pl-PL" dirty="0"/>
          </a:p>
          <a:p>
            <a:pPr lvl="1"/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6E0209E4-4241-2E8C-1687-C4BE9BD3A3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10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1381760" y="5146487"/>
            <a:ext cx="6461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/>
              <a:t>Czas, Zakres, Koszt - Zmiana jednego elementu wpływa na pozostałe.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383" y="1515534"/>
            <a:ext cx="3235513" cy="322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60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B1A56-FF15-1414-A6C5-1181A1DD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C80B7A-AC32-3E9C-0D05-B104FAD4F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0" y="666000"/>
            <a:ext cx="6668634" cy="414000"/>
          </a:xfrm>
        </p:spPr>
        <p:txBody>
          <a:bodyPr/>
          <a:lstStyle/>
          <a:p>
            <a:r>
              <a:rPr lang="pl-PL" dirty="0"/>
              <a:t>Triada ograniczeń projektu 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4134535-4E11-78E9-0F1F-CD5B1B6150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62" y="1496060"/>
            <a:ext cx="8214301" cy="4950460"/>
          </a:xfrm>
        </p:spPr>
        <p:txBody>
          <a:bodyPr/>
          <a:lstStyle/>
          <a:p>
            <a:pPr marL="378" lvl="1" indent="0">
              <a:buNone/>
            </a:pPr>
            <a:endParaRPr lang="pl-PL" dirty="0"/>
          </a:p>
          <a:p>
            <a:pPr lvl="1"/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03B5C474-1F57-D1A5-47DE-6B99B52E01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11</a:t>
            </a:fld>
            <a:endParaRPr lang="pl-PL" dirty="0">
              <a:solidFill>
                <a:srgbClr val="141E50"/>
              </a:solidFill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12643F7-CAAA-E222-5F88-25E9DA9D2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22" y="1722498"/>
            <a:ext cx="7039957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97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389F1-222C-CB7E-84B2-654C6F07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A33F2B-A60E-EC47-C9F5-1B488C57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Rodzaje projektów</a:t>
            </a:r>
          </a:p>
        </p:txBody>
      </p:sp>
      <p:sp>
        <p:nvSpPr>
          <p:cNvPr id="7" name="Symbol zastępczy tekstu 4">
            <a:extLst>
              <a:ext uri="{FF2B5EF4-FFF2-40B4-BE49-F238E27FC236}">
                <a16:creationId xmlns:a16="http://schemas.microsoft.com/office/drawing/2014/main" id="{4FDA434A-EB40-C166-CC1D-1EF968057E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500" y="1661700"/>
            <a:ext cx="8322250" cy="4789900"/>
          </a:xfrm>
        </p:spPr>
        <p:txBody>
          <a:bodyPr/>
          <a:lstStyle/>
          <a:p>
            <a:pPr marL="342900" lvl="1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pl-PL" sz="1800" b="1" dirty="0"/>
          </a:p>
          <a:p>
            <a:pPr marL="342900" lvl="1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pl-PL" sz="18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pl-PL" sz="1800" dirty="0"/>
          </a:p>
          <a:p>
            <a:pPr marL="378" lvl="1" indent="0">
              <a:lnSpc>
                <a:spcPct val="100000"/>
              </a:lnSpc>
              <a:buNone/>
            </a:pPr>
            <a:endParaRPr lang="pl-PL" dirty="0"/>
          </a:p>
          <a:p>
            <a:pPr marL="378" lvl="1" indent="0">
              <a:buNone/>
            </a:pPr>
            <a:endParaRPr lang="pl-PL" dirty="0"/>
          </a:p>
          <a:p>
            <a:pPr lvl="1"/>
            <a:endParaRPr lang="pl-PL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991B352-9EDE-3368-FA0F-40DDF15BA3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78825" y="6378575"/>
            <a:ext cx="765175" cy="214313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12</a:t>
            </a:fld>
            <a:endParaRPr lang="pl-PL" dirty="0">
              <a:solidFill>
                <a:srgbClr val="141E50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37813F2-D7E6-C450-5D39-ABBCA03B7EC6}"/>
              </a:ext>
            </a:extLst>
          </p:cNvPr>
          <p:cNvGraphicFramePr>
            <a:graphicFrameLocks noGrp="1"/>
          </p:cNvGraphicFramePr>
          <p:nvPr/>
        </p:nvGraphicFramePr>
        <p:xfrm>
          <a:off x="448297" y="1888424"/>
          <a:ext cx="7930528" cy="4390306"/>
        </p:xfrm>
        <a:graphic>
          <a:graphicData uri="http://schemas.openxmlformats.org/drawingml/2006/table">
            <a:tbl>
              <a:tblPr/>
              <a:tblGrid>
                <a:gridCol w="1982632">
                  <a:extLst>
                    <a:ext uri="{9D8B030D-6E8A-4147-A177-3AD203B41FA5}">
                      <a16:colId xmlns:a16="http://schemas.microsoft.com/office/drawing/2014/main" val="1135641897"/>
                    </a:ext>
                  </a:extLst>
                </a:gridCol>
                <a:gridCol w="1982632">
                  <a:extLst>
                    <a:ext uri="{9D8B030D-6E8A-4147-A177-3AD203B41FA5}">
                      <a16:colId xmlns:a16="http://schemas.microsoft.com/office/drawing/2014/main" val="3662120964"/>
                    </a:ext>
                  </a:extLst>
                </a:gridCol>
                <a:gridCol w="1982632">
                  <a:extLst>
                    <a:ext uri="{9D8B030D-6E8A-4147-A177-3AD203B41FA5}">
                      <a16:colId xmlns:a16="http://schemas.microsoft.com/office/drawing/2014/main" val="1418042000"/>
                    </a:ext>
                  </a:extLst>
                </a:gridCol>
                <a:gridCol w="1982632">
                  <a:extLst>
                    <a:ext uri="{9D8B030D-6E8A-4147-A177-3AD203B41FA5}">
                      <a16:colId xmlns:a16="http://schemas.microsoft.com/office/drawing/2014/main" val="124042389"/>
                    </a:ext>
                  </a:extLst>
                </a:gridCol>
              </a:tblGrid>
              <a:tr h="55380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dirty="0"/>
                        <a:t>Rodzaj projektu</a:t>
                      </a:r>
                    </a:p>
                    <a:p>
                      <a:pPr>
                        <a:buNone/>
                      </a:pPr>
                      <a:endParaRPr lang="pl-PL" sz="1600" b="1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b="1"/>
                        <a:t>Główne skupienie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b="1"/>
                        <a:t>Metodyka pracy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b="1" dirty="0"/>
                        <a:t>Ryzyko / niepewność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587152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Tworzenie oprogramowania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dirty="0"/>
                        <a:t>Funkcjonalność i UX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Agile / Waterfall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Średnie do wysokiego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26734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Infrastruktura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dirty="0"/>
                        <a:t>Sprzęt, sieć, serwery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Waterfall / Prince2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dirty="0"/>
                        <a:t>Średnie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72708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Integracja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dirty="0"/>
                        <a:t>Współpraca systemów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Agile / Waterfall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Średnie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497108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R&amp;D / Innovation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Nowe technologie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Iteracyjna, eksperymentalna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Wysokie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5405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Migracje / Modernizacja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dirty="0"/>
                        <a:t>Wdrożenia systemów, dane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Waterfall / Agile hybrydowa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Średnie do wysokiego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774583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Bezpieczeństwo IT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Ryzyka i compliance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Waterfall / Agile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dirty="0"/>
                        <a:t>Średnie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978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255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A013D-9652-E5EF-972C-FEDBC38F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94E2BD-3E5B-DDCB-D904-5C332F50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0" y="666000"/>
            <a:ext cx="7008352" cy="705600"/>
          </a:xfrm>
        </p:spPr>
        <p:txBody>
          <a:bodyPr/>
          <a:lstStyle/>
          <a:p>
            <a:r>
              <a:rPr lang="pl-PL" dirty="0"/>
              <a:t>Ewolucja podejść zarządzania projektami IT</a:t>
            </a:r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:a16="http://schemas.microsoft.com/office/drawing/2014/main" id="{6369655B-A7AA-88F2-B360-70133118CF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13</a:t>
            </a:fld>
            <a:endParaRPr lang="pl-PL" dirty="0">
              <a:solidFill>
                <a:srgbClr val="141E5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AE6600C-C675-5EC0-6400-A22B1A8C9157}"/>
              </a:ext>
            </a:extLst>
          </p:cNvPr>
          <p:cNvGraphicFramePr/>
          <p:nvPr/>
        </p:nvGraphicFramePr>
        <p:xfrm>
          <a:off x="281608" y="2044601"/>
          <a:ext cx="8580781" cy="2769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upa 6">
            <a:extLst>
              <a:ext uri="{FF2B5EF4-FFF2-40B4-BE49-F238E27FC236}">
                <a16:creationId xmlns:a16="http://schemas.microsoft.com/office/drawing/2014/main" id="{9C8A1CC4-FF3E-3F83-075D-8AB689D65E6C}"/>
              </a:ext>
            </a:extLst>
          </p:cNvPr>
          <p:cNvGrpSpPr/>
          <p:nvPr/>
        </p:nvGrpSpPr>
        <p:grpSpPr>
          <a:xfrm>
            <a:off x="281608" y="4813400"/>
            <a:ext cx="8580781" cy="682487"/>
            <a:chOff x="159026" y="5208104"/>
            <a:chExt cx="8527775" cy="682487"/>
          </a:xfrm>
        </p:grpSpPr>
        <p:sp>
          <p:nvSpPr>
            <p:cNvPr id="5" name="Strzałka: w prawo 4">
              <a:extLst>
                <a:ext uri="{FF2B5EF4-FFF2-40B4-BE49-F238E27FC236}">
                  <a16:creationId xmlns:a16="http://schemas.microsoft.com/office/drawing/2014/main" id="{F649FCEB-8518-7B31-E0A0-7B2A369FAD8A}"/>
                </a:ext>
              </a:extLst>
            </p:cNvPr>
            <p:cNvSpPr/>
            <p:nvPr/>
          </p:nvSpPr>
          <p:spPr>
            <a:xfrm>
              <a:off x="159026" y="5208104"/>
              <a:ext cx="8527775" cy="68248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3" name="pole tekstowe 2">
              <a:extLst>
                <a:ext uri="{FF2B5EF4-FFF2-40B4-BE49-F238E27FC236}">
                  <a16:creationId xmlns:a16="http://schemas.microsoft.com/office/drawing/2014/main" id="{9A9DA3CA-2A53-4F9C-E91E-AEF9C2200265}"/>
                </a:ext>
              </a:extLst>
            </p:cNvPr>
            <p:cNvSpPr txBox="1"/>
            <p:nvPr/>
          </p:nvSpPr>
          <p:spPr>
            <a:xfrm>
              <a:off x="212034" y="5364681"/>
              <a:ext cx="1239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Stabilność</a:t>
              </a:r>
            </a:p>
          </p:txBody>
        </p:sp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ACC14569-A190-77D4-04B1-7361F2FD0AC2}"/>
                </a:ext>
              </a:extLst>
            </p:cNvPr>
            <p:cNvSpPr txBox="1"/>
            <p:nvPr/>
          </p:nvSpPr>
          <p:spPr>
            <a:xfrm>
              <a:off x="6983896" y="5338166"/>
              <a:ext cx="14444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dirty="0"/>
                <a:t>Elastyczność</a:t>
              </a:r>
            </a:p>
          </p:txBody>
        </p:sp>
      </p:grp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97D1E02-9932-7CE5-F19B-AA389ED9F9F3}"/>
              </a:ext>
            </a:extLst>
          </p:cNvPr>
          <p:cNvSpPr txBox="1"/>
          <p:nvPr/>
        </p:nvSpPr>
        <p:spPr>
          <a:xfrm>
            <a:off x="1842053" y="567005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Nie jest to prosta droga od "złego" </a:t>
            </a:r>
            <a:r>
              <a:rPr lang="pl-PL" dirty="0" err="1"/>
              <a:t>Waterfall</a:t>
            </a:r>
            <a:r>
              <a:rPr lang="pl-PL" dirty="0"/>
              <a:t> do "dobrego" Agile, ale raczej ewolucja idei, jak radzić sobie z </a:t>
            </a:r>
            <a:r>
              <a:rPr lang="pl-PL" b="1" dirty="0"/>
              <a:t>niepewnością i zmiennością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1865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04192-F82C-EF58-9913-AC18020F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1E45B9-8541-D25F-A038-27FE614D5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0" y="665999"/>
            <a:ext cx="6668634" cy="658303"/>
          </a:xfrm>
        </p:spPr>
        <p:txBody>
          <a:bodyPr/>
          <a:lstStyle/>
          <a:p>
            <a:r>
              <a:rPr lang="pl-PL" dirty="0"/>
              <a:t>Tradycyjne podejście (</a:t>
            </a:r>
            <a:r>
              <a:rPr lang="pl-PL" dirty="0" err="1"/>
              <a:t>Waterfall</a:t>
            </a:r>
            <a:r>
              <a:rPr lang="pl-PL" dirty="0"/>
              <a:t>)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29BAF5D-F073-9F28-83B1-5B692230A6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500" y="2724425"/>
            <a:ext cx="3880839" cy="366484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Przepływ „w dół” jak wodospad – od analizy do wdrożenia.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Duży nacisk na planowanie i dokumentację.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Zakłada stabilne wymagania i środowisko projektu.</a:t>
            </a:r>
          </a:p>
          <a:p>
            <a:endParaRPr lang="pl-PL" dirty="0"/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:a16="http://schemas.microsoft.com/office/drawing/2014/main" id="{047C9380-9D30-3085-C980-3AD06B36769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14</a:t>
            </a:fld>
            <a:endParaRPr lang="pl-PL" dirty="0">
              <a:solidFill>
                <a:srgbClr val="141E50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0D6B5D3-332D-3B11-79AF-7BF742799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841" y="2409898"/>
            <a:ext cx="3982707" cy="3982707"/>
          </a:xfrm>
          <a:prstGeom prst="rect">
            <a:avLst/>
          </a:prstGeom>
        </p:spPr>
      </p:pic>
      <p:sp>
        <p:nvSpPr>
          <p:cNvPr id="6" name="Symbol zastępczy tekstu 3">
            <a:extLst>
              <a:ext uri="{FF2B5EF4-FFF2-40B4-BE49-F238E27FC236}">
                <a16:creationId xmlns:a16="http://schemas.microsoft.com/office/drawing/2014/main" id="{6BA452EF-FDBE-69E4-C1A4-7CFD7EEA38E0}"/>
              </a:ext>
            </a:extLst>
          </p:cNvPr>
          <p:cNvSpPr txBox="1">
            <a:spLocks/>
          </p:cNvSpPr>
          <p:nvPr/>
        </p:nvSpPr>
        <p:spPr>
          <a:xfrm>
            <a:off x="472500" y="1637725"/>
            <a:ext cx="8260683" cy="786836"/>
          </a:xfrm>
          <a:prstGeom prst="rect">
            <a:avLst/>
          </a:prstGeom>
        </p:spPr>
        <p:txBody>
          <a:bodyPr lIns="0" tIns="0" rIns="0" bIns="0" numCol="1" spcCol="226795">
            <a:no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2184"/>
              </a:spcBef>
              <a:buFontTx/>
              <a:buNone/>
              <a:tabLst>
                <a:tab pos="302393" algn="l"/>
              </a:tabLst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0403" indent="-240025" algn="l" eaLnBrk="1" hangingPunct="1">
              <a:lnSpc>
                <a:spcPct val="115000"/>
              </a:lnSpc>
              <a:spcBef>
                <a:spcPts val="2100"/>
              </a:spcBef>
              <a:buClr>
                <a:schemeClr val="tx1"/>
              </a:buClr>
              <a:buSzPct val="120000"/>
              <a:buFont typeface="Wingdings" panose="05000000000000000000" pitchFamily="2" charset="2"/>
              <a:buChar char="§"/>
              <a:tabLst>
                <a:tab pos="272154" algn="l"/>
              </a:tabLst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1675" indent="-211675" algn="l" eaLnBrk="1" hangingPunct="1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1675" indent="-211675" algn="l" eaLnBrk="1" hangingPunct="1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675" indent="-211675" algn="l" eaLnBrk="1" hangingPunct="1">
              <a:lnSpc>
                <a:spcPct val="115000"/>
              </a:lnSpc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64524" eaLnBrk="1" hangingPunct="1">
              <a:defRPr>
                <a:latin typeface="+mn-lt"/>
                <a:ea typeface="+mn-ea"/>
                <a:cs typeface="+mn-cs"/>
              </a:defRPr>
            </a:lvl6pPr>
            <a:lvl7pPr marL="1397429" eaLnBrk="1" hangingPunct="1">
              <a:defRPr>
                <a:latin typeface="+mn-lt"/>
                <a:ea typeface="+mn-ea"/>
                <a:cs typeface="+mn-cs"/>
              </a:defRPr>
            </a:lvl7pPr>
            <a:lvl8pPr marL="1630334" eaLnBrk="1" hangingPunct="1">
              <a:defRPr>
                <a:latin typeface="+mn-lt"/>
                <a:ea typeface="+mn-ea"/>
                <a:cs typeface="+mn-cs"/>
              </a:defRPr>
            </a:lvl8pPr>
            <a:lvl9pPr marL="186323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pl-PL" sz="1800" kern="0" dirty="0"/>
              <a:t>Model </a:t>
            </a:r>
            <a:r>
              <a:rPr lang="pl-PL" sz="1800" kern="0" dirty="0" err="1"/>
              <a:t>Waterfall</a:t>
            </a:r>
            <a:r>
              <a:rPr lang="pl-PL" sz="1800" kern="0" dirty="0"/>
              <a:t> (kaskadowy) to sekwencyjny cykl życia projektu, w którym każdy etap musi zostać ukończony, zanim rozpocznie się kolejny.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4919DE1-E1AA-A229-4BF2-F98DEF23E720}"/>
              </a:ext>
            </a:extLst>
          </p:cNvPr>
          <p:cNvSpPr txBox="1"/>
          <p:nvPr/>
        </p:nvSpPr>
        <p:spPr>
          <a:xfrm>
            <a:off x="0" y="6527765"/>
            <a:ext cx="25036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78" lvl="1" indent="0" defTabSz="45719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200" kern="1200" dirty="0"/>
              <a:t>*PMBOK® Guide 7th Edition (2021) </a:t>
            </a:r>
          </a:p>
        </p:txBody>
      </p:sp>
    </p:spTree>
    <p:extLst>
      <p:ext uri="{BB962C8B-B14F-4D97-AF65-F5344CB8AC3E}">
        <p14:creationId xmlns:p14="http://schemas.microsoft.com/office/powerpoint/2010/main" val="165322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72500" y="665999"/>
            <a:ext cx="6668634" cy="658303"/>
          </a:xfrm>
        </p:spPr>
        <p:txBody>
          <a:bodyPr/>
          <a:lstStyle/>
          <a:p>
            <a:r>
              <a:rPr lang="pl-PL" dirty="0"/>
              <a:t>Manifest Agile (Agile </a:t>
            </a:r>
            <a:r>
              <a:rPr lang="pl-PL" dirty="0" err="1"/>
              <a:t>Manifesto</a:t>
            </a:r>
            <a:r>
              <a:rPr lang="pl-PL" dirty="0"/>
              <a:t>)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1"/>
          </p:nvPr>
        </p:nvSpPr>
        <p:spPr>
          <a:xfrm>
            <a:off x="472500" y="2015999"/>
            <a:ext cx="8124962" cy="3664841"/>
          </a:xfrm>
        </p:spPr>
        <p:txBody>
          <a:bodyPr/>
          <a:lstStyle/>
          <a:p>
            <a:r>
              <a:rPr lang="pl-PL" sz="1600" dirty="0"/>
              <a:t>„Odkrywamy lepsze sposoby wytwarzania oprogramowania, robiąc to samodzielnie i pomagając w tym innym. Dzięki tej pracy zaczęliśmy bardziej cenić: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600" b="1" dirty="0">
                <a:solidFill>
                  <a:schemeClr val="tx1"/>
                </a:solidFill>
              </a:rPr>
              <a:t>Ludzi i interakcje </a:t>
            </a:r>
            <a:r>
              <a:rPr lang="pl-PL" sz="1600" dirty="0">
                <a:solidFill>
                  <a:schemeClr val="tx1"/>
                </a:solidFill>
              </a:rPr>
              <a:t>ponad </a:t>
            </a:r>
            <a:r>
              <a:rPr lang="pl-PL" sz="1600" b="1" dirty="0">
                <a:solidFill>
                  <a:schemeClr val="tx1"/>
                </a:solidFill>
              </a:rPr>
              <a:t>procesy i narzędzia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600" b="1" dirty="0">
                <a:solidFill>
                  <a:schemeClr val="tx1"/>
                </a:solidFill>
              </a:rPr>
              <a:t>Działające oprogramowanie </a:t>
            </a:r>
            <a:r>
              <a:rPr lang="pl-PL" sz="1600" dirty="0">
                <a:solidFill>
                  <a:schemeClr val="tx1"/>
                </a:solidFill>
              </a:rPr>
              <a:t>ponad </a:t>
            </a:r>
            <a:r>
              <a:rPr lang="pl-PL" sz="1600" b="1" dirty="0">
                <a:solidFill>
                  <a:schemeClr val="tx1"/>
                </a:solidFill>
              </a:rPr>
              <a:t>obszerną dokumentację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600" b="1" dirty="0">
                <a:solidFill>
                  <a:schemeClr val="tx1"/>
                </a:solidFill>
              </a:rPr>
              <a:t>Współpracę z klientem </a:t>
            </a:r>
            <a:r>
              <a:rPr lang="pl-PL" sz="1600" dirty="0">
                <a:solidFill>
                  <a:schemeClr val="tx1"/>
                </a:solidFill>
              </a:rPr>
              <a:t>ponad </a:t>
            </a:r>
            <a:r>
              <a:rPr lang="pl-PL" sz="1600" b="1" dirty="0">
                <a:solidFill>
                  <a:schemeClr val="tx1"/>
                </a:solidFill>
              </a:rPr>
              <a:t>negocjacje umów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600" b="1" dirty="0">
                <a:solidFill>
                  <a:schemeClr val="tx1"/>
                </a:solidFill>
              </a:rPr>
              <a:t>Reagowanie na zmiany </a:t>
            </a:r>
            <a:r>
              <a:rPr lang="pl-PL" sz="1600" dirty="0">
                <a:solidFill>
                  <a:schemeClr val="tx1"/>
                </a:solidFill>
              </a:rPr>
              <a:t>ponad </a:t>
            </a:r>
            <a:r>
              <a:rPr lang="pl-PL" sz="1600" b="1" dirty="0">
                <a:solidFill>
                  <a:schemeClr val="tx1"/>
                </a:solidFill>
              </a:rPr>
              <a:t>podążanie za planem</a:t>
            </a:r>
          </a:p>
          <a:p>
            <a:pPr>
              <a:spcBef>
                <a:spcPts val="600"/>
              </a:spcBef>
            </a:pPr>
            <a:r>
              <a:rPr lang="pl-PL" sz="1600" dirty="0"/>
              <a:t>To znaczy, że choć elementy po prawej stronie mają wartość,</a:t>
            </a:r>
            <a:br>
              <a:rPr lang="pl-PL" sz="1600" dirty="0"/>
            </a:br>
            <a:r>
              <a:rPr lang="pl-PL" sz="1600" dirty="0"/>
              <a:t>bardziej cenimy te po lewej.”</a:t>
            </a:r>
          </a:p>
          <a:p>
            <a:r>
              <a:rPr lang="pl-PL" dirty="0"/>
              <a:t>Został </a:t>
            </a:r>
            <a:r>
              <a:rPr lang="pl-PL" b="1" dirty="0"/>
              <a:t>opracowany w lutym 2001 roku</a:t>
            </a:r>
            <a:r>
              <a:rPr lang="pl-PL" dirty="0"/>
              <a:t> w </a:t>
            </a:r>
            <a:r>
              <a:rPr lang="pl-PL" dirty="0" err="1"/>
              <a:t>Snowbird</a:t>
            </a:r>
            <a:r>
              <a:rPr lang="pl-PL" dirty="0"/>
              <a:t> (Utah, USA) przez grupę 17 ekspertów od metod wytwarzania oprogramowania (m.in. Kent Beck, Martin Fowler, Jeff Sutherland, </a:t>
            </a:r>
            <a:r>
              <a:rPr lang="pl-PL" dirty="0" err="1"/>
              <a:t>Ken</a:t>
            </a:r>
            <a:r>
              <a:rPr lang="pl-PL" dirty="0"/>
              <a:t> </a:t>
            </a:r>
            <a:r>
              <a:rPr lang="pl-PL" dirty="0" err="1"/>
              <a:t>Schwaber</a:t>
            </a:r>
            <a:r>
              <a:rPr lang="pl-PL" dirty="0"/>
              <a:t>, Mike </a:t>
            </a:r>
            <a:r>
              <a:rPr lang="pl-PL" dirty="0" err="1"/>
              <a:t>Beedle</a:t>
            </a:r>
            <a:r>
              <a:rPr lang="pl-PL" dirty="0"/>
              <a:t>). Dokument nosi nazwę </a:t>
            </a:r>
            <a:r>
              <a:rPr lang="pl-PL" b="1" dirty="0"/>
              <a:t>„</a:t>
            </a:r>
            <a:r>
              <a:rPr lang="pl-PL" b="1" dirty="0" err="1"/>
              <a:t>Manifesto</a:t>
            </a:r>
            <a:r>
              <a:rPr lang="pl-PL" b="1" dirty="0"/>
              <a:t> for Agile Software Development”</a:t>
            </a:r>
            <a:r>
              <a:rPr lang="pl-PL" dirty="0"/>
              <a:t>.</a:t>
            </a:r>
          </a:p>
        </p:txBody>
      </p:sp>
      <p:sp>
        <p:nvSpPr>
          <p:cNvPr id="8" name="Symbol zastępczy numeru slajdu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15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FAB2E98-36B6-5A45-E53C-BC1BDA2DD88E}"/>
              </a:ext>
            </a:extLst>
          </p:cNvPr>
          <p:cNvSpPr txBox="1"/>
          <p:nvPr/>
        </p:nvSpPr>
        <p:spPr>
          <a:xfrm>
            <a:off x="304801" y="6372537"/>
            <a:ext cx="80771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78" lvl="1" indent="0" defTabSz="45719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000" kern="1200" dirty="0"/>
              <a:t>1) Agile </a:t>
            </a:r>
            <a:r>
              <a:rPr lang="pl-PL" sz="1000" kern="1200" dirty="0" err="1"/>
              <a:t>Manifesto</a:t>
            </a:r>
            <a:r>
              <a:rPr lang="pl-PL" sz="1000" kern="1200" dirty="0"/>
              <a:t> (2001) – fundament, opisuje wartości i zasady Agile - https://agilemanifesto.org/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95735F76-15C5-9F3D-36C7-8E5F21EE63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63839287-996C-7418-5A53-6C340B65E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967" y="2358174"/>
            <a:ext cx="3146033" cy="214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57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BC5BB7-6878-DD0B-53E0-3A5AF2DE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0" y="666000"/>
            <a:ext cx="7152580" cy="725920"/>
          </a:xfrm>
        </p:spPr>
        <p:txBody>
          <a:bodyPr/>
          <a:lstStyle/>
          <a:p>
            <a:r>
              <a:rPr lang="pl-PL" dirty="0"/>
              <a:t>Podejście Zwinne - Agile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B7D7356-A5A7-5116-DF43-DBC53FC443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2500" y="1281708"/>
            <a:ext cx="8214301" cy="4648639"/>
          </a:xfrm>
        </p:spPr>
        <p:txBody>
          <a:bodyPr/>
          <a:lstStyle/>
          <a:p>
            <a:pPr marL="378" lvl="1" indent="0">
              <a:spcBef>
                <a:spcPts val="600"/>
              </a:spcBef>
              <a:buNone/>
            </a:pPr>
            <a:r>
              <a:rPr lang="pl-PL" sz="1600" b="1" dirty="0"/>
              <a:t>Agile to paradygmat, nie jedna metodyka to zbiór wartości i zasad z Agile </a:t>
            </a:r>
            <a:r>
              <a:rPr lang="pl-PL" sz="1600" b="1" dirty="0" err="1"/>
              <a:t>Manifesto</a:t>
            </a:r>
            <a:r>
              <a:rPr lang="pl-PL" sz="1600" b="1" dirty="0"/>
              <a:t> (2001).</a:t>
            </a:r>
          </a:p>
          <a:p>
            <a:pPr lvl="1">
              <a:spcBef>
                <a:spcPts val="600"/>
              </a:spcBef>
            </a:pPr>
            <a:r>
              <a:rPr lang="pl-PL" sz="1600" b="1" dirty="0" err="1"/>
              <a:t>Scrum</a:t>
            </a:r>
            <a:r>
              <a:rPr lang="pl-PL" sz="1600" b="1" dirty="0"/>
              <a:t> – najpopularniejszy </a:t>
            </a:r>
            <a:r>
              <a:rPr lang="pl-PL" sz="1600" b="1" dirty="0" err="1"/>
              <a:t>framework</a:t>
            </a:r>
            <a:r>
              <a:rPr lang="pl-PL" sz="1600" b="1" dirty="0"/>
              <a:t> Agile (</a:t>
            </a:r>
            <a:r>
              <a:rPr lang="pl-PL" sz="1600" dirty="0"/>
              <a:t>66–70%)</a:t>
            </a:r>
            <a:endParaRPr lang="pl-PL" sz="1600" b="1" dirty="0"/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Zdecydowanie najczęściej stosowany na świecie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Dlatego w edukacji i praktyce biznesowej Scrum jest de facto standardem.</a:t>
            </a:r>
          </a:p>
          <a:p>
            <a:pPr lvl="1">
              <a:spcBef>
                <a:spcPts val="600"/>
              </a:spcBef>
            </a:pPr>
            <a:r>
              <a:rPr lang="pl-PL" sz="1600" b="1" dirty="0" err="1"/>
              <a:t>Kanban</a:t>
            </a:r>
            <a:r>
              <a:rPr lang="pl-PL" sz="1600" b="1" dirty="0"/>
              <a:t> – druga wiodąca metoda (</a:t>
            </a:r>
            <a:r>
              <a:rPr lang="pl-PL" sz="1600" dirty="0"/>
              <a:t>10–15%)</a:t>
            </a:r>
            <a:endParaRPr lang="pl-PL" sz="1600" b="1" dirty="0"/>
          </a:p>
          <a:p>
            <a:pPr marL="396000" lvl="5" indent="-1440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Lżejsza niż Scrum, bazuje na wizualizacji przepływu pracy </a:t>
            </a:r>
          </a:p>
          <a:p>
            <a:pPr marL="396000" lvl="5" indent="-1440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Bardziej popularna w środowiskach </a:t>
            </a:r>
            <a:r>
              <a:rPr lang="pl-PL" sz="1400" dirty="0" err="1">
                <a:solidFill>
                  <a:schemeClr val="tx1"/>
                </a:solidFill>
              </a:rPr>
              <a:t>DevOps</a:t>
            </a:r>
            <a:r>
              <a:rPr lang="pl-PL" sz="1400" dirty="0">
                <a:solidFill>
                  <a:schemeClr val="tx1"/>
                </a:solidFill>
              </a:rPr>
              <a:t>, IT </a:t>
            </a:r>
            <a:r>
              <a:rPr lang="pl-PL" sz="1400" dirty="0" err="1">
                <a:solidFill>
                  <a:schemeClr val="tx1"/>
                </a:solidFill>
              </a:rPr>
              <a:t>ops</a:t>
            </a:r>
            <a:r>
              <a:rPr lang="pl-PL" sz="1400" dirty="0">
                <a:solidFill>
                  <a:schemeClr val="tx1"/>
                </a:solidFill>
              </a:rPr>
              <a:t>, utrzymaniu i zespołach </a:t>
            </a:r>
            <a:r>
              <a:rPr lang="pl-PL" sz="1400" dirty="0" err="1">
                <a:solidFill>
                  <a:schemeClr val="tx1"/>
                </a:solidFill>
              </a:rPr>
              <a:t>supportowych</a:t>
            </a:r>
            <a:r>
              <a:rPr lang="pl-PL" sz="1400" dirty="0">
                <a:solidFill>
                  <a:schemeClr val="tx1"/>
                </a:solidFill>
              </a:rPr>
              <a:t>. </a:t>
            </a:r>
          </a:p>
          <a:p>
            <a:pPr lvl="1">
              <a:spcBef>
                <a:spcPts val="600"/>
              </a:spcBef>
            </a:pPr>
            <a:r>
              <a:rPr lang="pl-PL" sz="1800" b="1" dirty="0" err="1"/>
              <a:t>Scaled</a:t>
            </a:r>
            <a:r>
              <a:rPr lang="pl-PL" sz="1800" b="1" dirty="0"/>
              <a:t> Agile Framework (</a:t>
            </a:r>
            <a:r>
              <a:rPr lang="pl-PL" sz="1800" b="1" dirty="0" err="1"/>
              <a:t>SAFe</a:t>
            </a:r>
            <a:r>
              <a:rPr lang="pl-PL" sz="1800" b="1" dirty="0"/>
              <a:t>)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Najczęściej stosowane podejście do skalowania Agile w dużych organizacjach 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Łączy Agile + Lean + </a:t>
            </a:r>
            <a:r>
              <a:rPr lang="pl-PL" sz="1400" dirty="0" err="1">
                <a:solidFill>
                  <a:schemeClr val="tx1"/>
                </a:solidFill>
              </a:rPr>
              <a:t>DevOps</a:t>
            </a:r>
            <a:r>
              <a:rPr lang="pl-PL" sz="1400" dirty="0">
                <a:solidFill>
                  <a:schemeClr val="tx1"/>
                </a:solidFill>
              </a:rPr>
              <a:t> + portfel projektów.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W sektorze </a:t>
            </a:r>
            <a:r>
              <a:rPr lang="pl-PL" sz="1400" dirty="0" err="1">
                <a:solidFill>
                  <a:schemeClr val="tx1"/>
                </a:solidFill>
              </a:rPr>
              <a:t>enterprise</a:t>
            </a:r>
            <a:r>
              <a:rPr lang="pl-PL" sz="1400" dirty="0">
                <a:solidFill>
                  <a:schemeClr val="tx1"/>
                </a:solidFill>
              </a:rPr>
              <a:t> </a:t>
            </a:r>
            <a:r>
              <a:rPr lang="pl-PL" sz="1400" dirty="0" err="1">
                <a:solidFill>
                  <a:schemeClr val="tx1"/>
                </a:solidFill>
              </a:rPr>
              <a:t>SAFe</a:t>
            </a:r>
            <a:r>
              <a:rPr lang="pl-PL" sz="1400" dirty="0">
                <a:solidFill>
                  <a:schemeClr val="tx1"/>
                </a:solidFill>
              </a:rPr>
              <a:t> jest dominującym standardem - 37% tych, którzy skalują Agile używa </a:t>
            </a:r>
            <a:r>
              <a:rPr lang="pl-PL" sz="1400" dirty="0" err="1">
                <a:solidFill>
                  <a:schemeClr val="tx1"/>
                </a:solidFill>
              </a:rPr>
              <a:t>SAFe</a:t>
            </a:r>
            <a:r>
              <a:rPr lang="pl-PL" sz="1400" dirty="0">
                <a:solidFill>
                  <a:schemeClr val="tx1"/>
                </a:solidFill>
              </a:rPr>
              <a:t>.</a:t>
            </a:r>
          </a:p>
          <a:p>
            <a:pPr lvl="1">
              <a:spcBef>
                <a:spcPts val="600"/>
              </a:spcBef>
            </a:pPr>
            <a:r>
              <a:rPr lang="pl-PL" sz="1800" b="1" dirty="0"/>
              <a:t>XP(Extreme Programming) 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XP jest metodyką skupioną na inżynierii oprogramowania - Wysoka Dyscyplina Inżynierska i Jakość Kodu</a:t>
            </a:r>
          </a:p>
          <a:p>
            <a:pPr marL="396000" lvl="5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Akceptacja Zmiany, Proste Projektowanie i ciągła </a:t>
            </a:r>
            <a:r>
              <a:rPr lang="pl-PL" sz="1400" dirty="0" err="1">
                <a:solidFill>
                  <a:schemeClr val="tx1"/>
                </a:solidFill>
              </a:rPr>
              <a:t>Refaktoryzacja</a:t>
            </a:r>
            <a:r>
              <a:rPr lang="pl-PL" sz="1400" dirty="0">
                <a:solidFill>
                  <a:schemeClr val="tx1"/>
                </a:solidFill>
              </a:rPr>
              <a:t> kodu</a:t>
            </a:r>
          </a:p>
          <a:p>
            <a:pPr lvl="1">
              <a:spcBef>
                <a:spcPts val="600"/>
              </a:spcBef>
            </a:pPr>
            <a:endParaRPr lang="pl-PL" sz="1800" b="1" dirty="0"/>
          </a:p>
          <a:p>
            <a:pPr lvl="1">
              <a:spcBef>
                <a:spcPts val="600"/>
              </a:spcBef>
            </a:pPr>
            <a:endParaRPr lang="pl-PL" sz="105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pl-PL" sz="1050" dirty="0"/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6E0209E4-4241-2E8C-1687-C4BE9BD3A3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21617" y="6377941"/>
            <a:ext cx="765184" cy="215444"/>
          </a:xfrm>
        </p:spPr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16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0C4F445-6625-227E-D039-774DD249C3FE}"/>
              </a:ext>
            </a:extLst>
          </p:cNvPr>
          <p:cNvSpPr txBox="1"/>
          <p:nvPr/>
        </p:nvSpPr>
        <p:spPr>
          <a:xfrm>
            <a:off x="-86610" y="6054776"/>
            <a:ext cx="518207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78" lvl="1" indent="0" defTabSz="45719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000" kern="1200" dirty="0"/>
              <a:t>(1) </a:t>
            </a:r>
            <a:r>
              <a:rPr lang="pl-PL" sz="1000" kern="1200" dirty="0" err="1"/>
              <a:t>State</a:t>
            </a:r>
            <a:r>
              <a:rPr lang="pl-PL" sz="1000" kern="1200" dirty="0"/>
              <a:t> of Agile Report od Digital.ai - https://stateofagile.com/</a:t>
            </a:r>
          </a:p>
          <a:p>
            <a:pPr marL="378" lvl="1" indent="0" defTabSz="45719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000" kern="1200" dirty="0"/>
              <a:t>(2) PMBOK® Guide 7th Edition (2021); </a:t>
            </a:r>
          </a:p>
          <a:p>
            <a:pPr marL="378" lvl="1" indent="0" defTabSz="45719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000" kern="1200" dirty="0"/>
              <a:t>(3) </a:t>
            </a:r>
            <a:r>
              <a:rPr lang="pl-PL" sz="1000" kern="1200" dirty="0" err="1"/>
              <a:t>Scrum</a:t>
            </a:r>
            <a:r>
              <a:rPr lang="pl-PL" sz="1000" kern="1200" dirty="0"/>
              <a:t> Guide (</a:t>
            </a:r>
            <a:r>
              <a:rPr lang="pl-PL" sz="1000" kern="1200" dirty="0" err="1"/>
              <a:t>Ken</a:t>
            </a:r>
            <a:r>
              <a:rPr lang="pl-PL" sz="1000" kern="1200" dirty="0"/>
              <a:t> </a:t>
            </a:r>
            <a:r>
              <a:rPr lang="pl-PL" sz="1000" kern="1200" dirty="0" err="1"/>
              <a:t>Schwaber</a:t>
            </a:r>
            <a:r>
              <a:rPr lang="pl-PL" sz="1000" kern="1200" dirty="0"/>
              <a:t> &amp; Jeff Sutherland, aktualizacja 2020)-https://scrumguides.org/</a:t>
            </a:r>
          </a:p>
          <a:p>
            <a:pPr marL="378" lvl="1" indent="0" defTabSz="45719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000" dirty="0"/>
              <a:t>(4) </a:t>
            </a:r>
            <a:r>
              <a:rPr lang="en-US" sz="1000" dirty="0"/>
              <a:t>Extreme Programming Explained: Embrace Change" (Kent Beck)</a:t>
            </a:r>
            <a:endParaRPr lang="pl-PL" sz="1000" kern="1200" dirty="0"/>
          </a:p>
          <a:p>
            <a:pPr marL="378" lvl="1" indent="0" defTabSz="45719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000" kern="1200" dirty="0"/>
              <a:t>(5) </a:t>
            </a:r>
            <a:r>
              <a:rPr lang="pl-PL" sz="1000" kern="1200" dirty="0" err="1"/>
              <a:t>SAFe</a:t>
            </a:r>
            <a:r>
              <a:rPr lang="pl-PL" sz="1000" kern="1200" dirty="0"/>
              <a:t> (</a:t>
            </a:r>
            <a:r>
              <a:rPr lang="pl-PL" sz="1000" kern="1200" dirty="0" err="1"/>
              <a:t>Scaled</a:t>
            </a:r>
            <a:r>
              <a:rPr lang="pl-PL" sz="1000" kern="1200" dirty="0"/>
              <a:t> Agile Framework)- scaledagileframework.com</a:t>
            </a:r>
          </a:p>
        </p:txBody>
      </p:sp>
    </p:spTree>
    <p:extLst>
      <p:ext uri="{BB962C8B-B14F-4D97-AF65-F5344CB8AC3E}">
        <p14:creationId xmlns:p14="http://schemas.microsoft.com/office/powerpoint/2010/main" val="337163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72500" y="665999"/>
            <a:ext cx="6668634" cy="658303"/>
          </a:xfrm>
        </p:spPr>
        <p:txBody>
          <a:bodyPr/>
          <a:lstStyle/>
          <a:p>
            <a:r>
              <a:rPr lang="pl-PL" dirty="0"/>
              <a:t>Charakterystyka metodyki SCRUM</a:t>
            </a:r>
            <a:endParaRPr lang="pl-PL" b="1" dirty="0"/>
          </a:p>
        </p:txBody>
      </p:sp>
      <p:sp>
        <p:nvSpPr>
          <p:cNvPr id="8" name="Symbol zastępczy numeru slajdu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17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194441" y="1539453"/>
            <a:ext cx="837148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/>
              <a:t>SCRUM to jedna z metodyk Agile o charakterze:</a:t>
            </a:r>
          </a:p>
          <a:p>
            <a:endParaRPr lang="pl-PL" dirty="0"/>
          </a:p>
          <a:p>
            <a:endParaRPr lang="pl-PL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l-PL" b="1" dirty="0"/>
              <a:t>Iteracyjny i przyrostowy</a:t>
            </a:r>
            <a:r>
              <a:rPr lang="pl-PL" dirty="0"/>
              <a:t> – praca w sprintach (1–4 tyg.), każdy sprint kończy się działającym przyrostem produktu.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l-PL" b="1" dirty="0"/>
              <a:t>Trzy role</a:t>
            </a:r>
            <a:r>
              <a:rPr lang="pl-PL" dirty="0"/>
              <a:t> – Product </a:t>
            </a:r>
            <a:r>
              <a:rPr lang="pl-PL" dirty="0" err="1"/>
              <a:t>Owner</a:t>
            </a:r>
            <a:r>
              <a:rPr lang="pl-PL" dirty="0"/>
              <a:t>, </a:t>
            </a:r>
            <a:r>
              <a:rPr lang="pl-PL" dirty="0" err="1"/>
              <a:t>Scrum</a:t>
            </a:r>
            <a:r>
              <a:rPr lang="pl-PL" dirty="0"/>
              <a:t> Master, Development Team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l-PL" b="1" dirty="0"/>
              <a:t>Artefakty</a:t>
            </a:r>
            <a:r>
              <a:rPr lang="pl-PL" dirty="0"/>
              <a:t> – Product </a:t>
            </a:r>
            <a:r>
              <a:rPr lang="pl-PL" dirty="0" err="1"/>
              <a:t>Backlog</a:t>
            </a:r>
            <a:r>
              <a:rPr lang="pl-PL" dirty="0"/>
              <a:t> (wymagania), Sprint </a:t>
            </a:r>
            <a:r>
              <a:rPr lang="pl-PL" dirty="0" err="1"/>
              <a:t>Backlog</a:t>
            </a:r>
            <a:r>
              <a:rPr lang="pl-PL" dirty="0"/>
              <a:t> (plan sprintu), </a:t>
            </a:r>
            <a:r>
              <a:rPr lang="pl-PL" dirty="0" err="1"/>
              <a:t>Increment</a:t>
            </a:r>
            <a:r>
              <a:rPr lang="pl-PL" dirty="0"/>
              <a:t> (gotowy przyrost).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l-PL" b="1" dirty="0"/>
              <a:t>Wydarzenia</a:t>
            </a:r>
            <a:r>
              <a:rPr lang="pl-PL" dirty="0"/>
              <a:t> – Sprint Planning, </a:t>
            </a:r>
            <a:r>
              <a:rPr lang="pl-PL" dirty="0" err="1"/>
              <a:t>Daily</a:t>
            </a:r>
            <a:r>
              <a:rPr lang="pl-PL" dirty="0"/>
              <a:t> </a:t>
            </a:r>
            <a:r>
              <a:rPr lang="pl-PL" dirty="0" err="1"/>
              <a:t>Scrum</a:t>
            </a:r>
            <a:r>
              <a:rPr lang="pl-PL" dirty="0"/>
              <a:t>, Sprint </a:t>
            </a:r>
            <a:r>
              <a:rPr lang="pl-PL" dirty="0" err="1"/>
              <a:t>Review</a:t>
            </a:r>
            <a:r>
              <a:rPr lang="pl-PL" dirty="0"/>
              <a:t>, </a:t>
            </a:r>
            <a:r>
              <a:rPr lang="pl-PL" dirty="0" err="1"/>
              <a:t>Retrospective</a:t>
            </a:r>
            <a:r>
              <a:rPr lang="pl-PL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l-PL" b="1" dirty="0"/>
              <a:t>Zasady działania</a:t>
            </a:r>
            <a:r>
              <a:rPr lang="pl-PL" dirty="0"/>
              <a:t> – transparentność, inspekcja, adaptacja i ciągłe doskonalenie.</a:t>
            </a:r>
          </a:p>
        </p:txBody>
      </p:sp>
    </p:spTree>
    <p:extLst>
      <p:ext uri="{BB962C8B-B14F-4D97-AF65-F5344CB8AC3E}">
        <p14:creationId xmlns:p14="http://schemas.microsoft.com/office/powerpoint/2010/main" val="2805037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72500" y="665999"/>
            <a:ext cx="6668634" cy="658303"/>
          </a:xfrm>
        </p:spPr>
        <p:txBody>
          <a:bodyPr/>
          <a:lstStyle/>
          <a:p>
            <a:r>
              <a:rPr lang="pl-PL" dirty="0"/>
              <a:t>Role w SCRUM</a:t>
            </a:r>
          </a:p>
        </p:txBody>
      </p:sp>
      <p:sp>
        <p:nvSpPr>
          <p:cNvPr id="8" name="Symbol zastępczy numeru slajdu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18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194441" y="1539453"/>
            <a:ext cx="8371489" cy="453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pl-PL" b="1" dirty="0"/>
              <a:t>Product </a:t>
            </a:r>
            <a:r>
              <a:rPr lang="pl-PL" b="1" dirty="0" err="1"/>
              <a:t>Owner</a:t>
            </a:r>
            <a:r>
              <a:rPr lang="pl-PL" b="1" dirty="0"/>
              <a:t> (Właściciel Produktu)</a:t>
            </a:r>
            <a:endParaRPr lang="pl-PL" dirty="0"/>
          </a:p>
          <a:p>
            <a:pPr lvl="1">
              <a:spcBef>
                <a:spcPts val="600"/>
              </a:spcBef>
            </a:pPr>
            <a:r>
              <a:rPr lang="pl-PL" dirty="0"/>
              <a:t>Odpowiada za maksymalizację wartości produktu.</a:t>
            </a:r>
          </a:p>
          <a:p>
            <a:pPr lvl="1">
              <a:spcBef>
                <a:spcPts val="600"/>
              </a:spcBef>
            </a:pPr>
            <a:r>
              <a:rPr lang="pl-PL" dirty="0"/>
              <a:t>Zarządza </a:t>
            </a:r>
            <a:r>
              <a:rPr lang="pl-PL" i="1" dirty="0"/>
              <a:t>Product </a:t>
            </a:r>
            <a:r>
              <a:rPr lang="pl-PL" i="1" dirty="0" err="1"/>
              <a:t>Backlogiem</a:t>
            </a:r>
            <a:r>
              <a:rPr lang="pl-PL" dirty="0"/>
              <a:t> – ustala priorytety i cele.</a:t>
            </a:r>
          </a:p>
          <a:p>
            <a:pPr lvl="1">
              <a:spcBef>
                <a:spcPts val="600"/>
              </a:spcBef>
            </a:pPr>
            <a:r>
              <a:rPr lang="pl-PL" dirty="0"/>
              <a:t>Jest łącznikiem między zespołem a interesariuszami/klientem.</a:t>
            </a:r>
          </a:p>
          <a:p>
            <a:pPr>
              <a:spcBef>
                <a:spcPts val="600"/>
              </a:spcBef>
            </a:pPr>
            <a:r>
              <a:rPr lang="pl-PL" b="1" dirty="0" err="1"/>
              <a:t>Scrum</a:t>
            </a:r>
            <a:r>
              <a:rPr lang="pl-PL" b="1" dirty="0"/>
              <a:t> Master</a:t>
            </a:r>
            <a:endParaRPr lang="pl-PL" dirty="0"/>
          </a:p>
          <a:p>
            <a:pPr lvl="1">
              <a:spcBef>
                <a:spcPts val="600"/>
              </a:spcBef>
            </a:pPr>
            <a:r>
              <a:rPr lang="pl-PL" dirty="0"/>
              <a:t>Dba o prawidłowe stosowanie </a:t>
            </a:r>
            <a:r>
              <a:rPr lang="pl-PL" dirty="0" err="1"/>
              <a:t>Scruma</a:t>
            </a:r>
            <a:r>
              <a:rPr lang="pl-PL" dirty="0"/>
              <a:t>.</a:t>
            </a:r>
          </a:p>
          <a:p>
            <a:pPr lvl="1">
              <a:spcBef>
                <a:spcPts val="600"/>
              </a:spcBef>
            </a:pPr>
            <a:r>
              <a:rPr lang="pl-PL" dirty="0"/>
              <a:t>Pomaga usuwać przeszkody w pracy zespołu.</a:t>
            </a:r>
          </a:p>
          <a:p>
            <a:pPr lvl="1">
              <a:spcBef>
                <a:spcPts val="600"/>
              </a:spcBef>
            </a:pPr>
            <a:r>
              <a:rPr lang="pl-PL" dirty="0"/>
              <a:t>Wspiera Product </a:t>
            </a:r>
            <a:r>
              <a:rPr lang="pl-PL" dirty="0" err="1"/>
              <a:t>Ownera</a:t>
            </a:r>
            <a:r>
              <a:rPr lang="pl-PL" dirty="0"/>
              <a:t> i zespół developerski w zrozumieniu zasad i praktyk Agile.</a:t>
            </a:r>
          </a:p>
          <a:p>
            <a:pPr>
              <a:spcBef>
                <a:spcPts val="600"/>
              </a:spcBef>
            </a:pPr>
            <a:r>
              <a:rPr lang="pl-PL" b="1" dirty="0"/>
              <a:t>Development Team (Zespół Developerski)</a:t>
            </a:r>
            <a:endParaRPr lang="pl-PL" dirty="0"/>
          </a:p>
          <a:p>
            <a:pPr lvl="1">
              <a:spcBef>
                <a:spcPts val="600"/>
              </a:spcBef>
            </a:pPr>
            <a:r>
              <a:rPr lang="pl-PL" dirty="0"/>
              <a:t>Samoorganizujący się zespół profesjonalistów.</a:t>
            </a:r>
          </a:p>
          <a:p>
            <a:pPr lvl="1">
              <a:spcBef>
                <a:spcPts val="600"/>
              </a:spcBef>
            </a:pPr>
            <a:r>
              <a:rPr lang="pl-PL" dirty="0"/>
              <a:t>Odpowiada za dostarczenie działającego przyrostu produktu na koniec sprintu.</a:t>
            </a:r>
          </a:p>
          <a:p>
            <a:pPr lvl="1">
              <a:spcBef>
                <a:spcPts val="600"/>
              </a:spcBef>
            </a:pPr>
            <a:r>
              <a:rPr lang="pl-PL" dirty="0"/>
              <a:t>Zwykle 3–9 osób, </a:t>
            </a:r>
            <a:r>
              <a:rPr lang="pl-PL" dirty="0" err="1"/>
              <a:t>multidyscyplinarnych</a:t>
            </a:r>
            <a:r>
              <a:rPr lang="pl-PL" dirty="0"/>
              <a:t>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15187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72500" y="665999"/>
            <a:ext cx="6668634" cy="658303"/>
          </a:xfrm>
        </p:spPr>
        <p:txBody>
          <a:bodyPr/>
          <a:lstStyle/>
          <a:p>
            <a:r>
              <a:rPr lang="pl-PL" dirty="0" err="1"/>
              <a:t>Azur</a:t>
            </a:r>
            <a:r>
              <a:rPr lang="pl-PL" dirty="0"/>
              <a:t> </a:t>
            </a:r>
            <a:r>
              <a:rPr lang="pl-PL" dirty="0" err="1"/>
              <a:t>Devops</a:t>
            </a:r>
            <a:r>
              <a:rPr lang="pl-PL" dirty="0"/>
              <a:t> – tworzenie konta</a:t>
            </a:r>
          </a:p>
        </p:txBody>
      </p:sp>
      <p:sp>
        <p:nvSpPr>
          <p:cNvPr id="8" name="Symbol zastępczy numeru slajdu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19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194441" y="1433436"/>
            <a:ext cx="8631507" cy="5924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l-PL" sz="1400" dirty="0"/>
              <a:t>Utwórz konto dla </a:t>
            </a:r>
            <a:r>
              <a:rPr lang="pl-PL" sz="1400" dirty="0" err="1"/>
              <a:t>studena</a:t>
            </a:r>
            <a:r>
              <a:rPr lang="pl-PL" sz="1400" dirty="0"/>
              <a:t> – </a:t>
            </a:r>
          </a:p>
          <a:p>
            <a:pPr marL="80009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b="1" dirty="0"/>
              <a:t>przejdź na Stronę </a:t>
            </a:r>
            <a:r>
              <a:rPr lang="pl-PL" sz="1400" b="1" dirty="0" err="1"/>
              <a:t>Azure</a:t>
            </a:r>
            <a:r>
              <a:rPr lang="pl-PL" sz="1400" b="1" dirty="0"/>
              <a:t> </a:t>
            </a:r>
            <a:r>
              <a:rPr lang="pl-PL" sz="1400" b="1" dirty="0" err="1"/>
              <a:t>DevOps</a:t>
            </a:r>
            <a:r>
              <a:rPr lang="pl-PL" sz="1400" b="1" dirty="0"/>
              <a:t>:</a:t>
            </a:r>
            <a:r>
              <a:rPr lang="pl-PL" sz="1400" dirty="0"/>
              <a:t> </a:t>
            </a:r>
            <a:r>
              <a:rPr lang="pl-PL" sz="1400" dirty="0">
                <a:hlinkClick r:id="rId2"/>
              </a:rPr>
              <a:t>https://azure.microsoft.com/en-us/free/students</a:t>
            </a:r>
            <a:r>
              <a:rPr lang="pl-PL" sz="1400" dirty="0"/>
              <a:t>  (w przeglądarce wpisz </a:t>
            </a:r>
            <a:r>
              <a:rPr lang="pl-PL" sz="1400" dirty="0" err="1"/>
              <a:t>Azure</a:t>
            </a:r>
            <a:r>
              <a:rPr lang="pl-PL" sz="1400" dirty="0"/>
              <a:t> </a:t>
            </a:r>
            <a:r>
              <a:rPr lang="pl-PL" sz="1400" dirty="0" err="1"/>
              <a:t>DevOps</a:t>
            </a:r>
            <a:r>
              <a:rPr lang="pl-PL" sz="1400" dirty="0"/>
              <a:t> Student) i kliknij  przycisk </a:t>
            </a:r>
            <a:r>
              <a:rPr lang="pl-PL" sz="1400" b="1" dirty="0"/>
              <a:t>"Start </a:t>
            </a:r>
            <a:r>
              <a:rPr lang="pl-PL" sz="1400" b="1" dirty="0" err="1"/>
              <a:t>free</a:t>
            </a:r>
            <a:r>
              <a:rPr lang="pl-PL" sz="1400" b="1" dirty="0"/>
              <a:t>"</a:t>
            </a:r>
            <a:r>
              <a:rPr lang="pl-PL" sz="1400" dirty="0"/>
              <a:t> </a:t>
            </a:r>
          </a:p>
          <a:p>
            <a:pPr marL="80009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/>
              <a:t>Do logowania użyj konta Microsoft uczelnianego. W przypadku problemów z kontem Microsoft (</a:t>
            </a:r>
            <a:r>
              <a:rPr lang="pl-PL" sz="1400" dirty="0" err="1"/>
              <a:t>Authenticator</a:t>
            </a:r>
            <a:r>
              <a:rPr lang="pl-PL" sz="1400" dirty="0"/>
              <a:t> nie odpowiada) proszę o email do admin365@wroclaw.merito.pl. </a:t>
            </a:r>
          </a:p>
          <a:p>
            <a:pPr marL="80009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/>
              <a:t>Wybierz (wyszukaj) </a:t>
            </a:r>
            <a:r>
              <a:rPr lang="pl-PL" sz="1400" dirty="0" err="1"/>
              <a:t>Azure</a:t>
            </a:r>
            <a:r>
              <a:rPr lang="pl-PL" sz="1400" dirty="0"/>
              <a:t> </a:t>
            </a:r>
            <a:r>
              <a:rPr lang="pl-PL" sz="1400" dirty="0" err="1"/>
              <a:t>DevOps</a:t>
            </a:r>
            <a:r>
              <a:rPr lang="pl-PL" sz="1400" dirty="0"/>
              <a:t> </a:t>
            </a:r>
            <a:r>
              <a:rPr lang="pl-PL" sz="1400" dirty="0" err="1"/>
              <a:t>Organisations</a:t>
            </a:r>
            <a:endParaRPr lang="pl-PL" sz="1400" dirty="0"/>
          </a:p>
          <a:p>
            <a:pPr marL="80009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dirty="0"/>
              <a:t>Kliknij Po zalogowaniu utwórz  </a:t>
            </a:r>
            <a:r>
              <a:rPr lang="pl-PL" sz="1400" b="1" dirty="0"/>
              <a:t>Organizację </a:t>
            </a:r>
            <a:r>
              <a:rPr lang="pl-PL" sz="1400" b="1" dirty="0" err="1"/>
              <a:t>Azure</a:t>
            </a:r>
            <a:r>
              <a:rPr lang="pl-PL" sz="1400" b="1" dirty="0"/>
              <a:t> </a:t>
            </a:r>
            <a:r>
              <a:rPr lang="pl-PL" sz="1400" b="1" dirty="0" err="1"/>
              <a:t>DevOps</a:t>
            </a:r>
            <a:r>
              <a:rPr lang="pl-PL" sz="1400" dirty="0"/>
              <a:t> (np. </a:t>
            </a:r>
            <a:r>
              <a:rPr lang="pl-PL" sz="1400" dirty="0" err="1"/>
              <a:t>Merito</a:t>
            </a:r>
            <a:r>
              <a:rPr lang="pl-PL" sz="1400" dirty="0"/>
              <a:t>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l-PL" sz="1400" dirty="0"/>
              <a:t>Kliknij </a:t>
            </a:r>
            <a:r>
              <a:rPr lang="pl-PL" sz="1400" b="1" dirty="0"/>
              <a:t>New Project.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l-PL" sz="1400" dirty="0"/>
              <a:t>Wypełnij formularz:</a:t>
            </a:r>
          </a:p>
          <a:p>
            <a:pPr marL="74294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Project name</a:t>
            </a:r>
            <a:r>
              <a:rPr lang="en-US" sz="1400" dirty="0"/>
              <a:t> – np. E-commerce SAP ERP.</a:t>
            </a:r>
            <a:endParaRPr lang="pl-PL" sz="1400" dirty="0"/>
          </a:p>
          <a:p>
            <a:pPr marL="74294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b="1" dirty="0" err="1"/>
              <a:t>Description</a:t>
            </a:r>
            <a:r>
              <a:rPr lang="pl-PL" sz="1400" dirty="0"/>
              <a:t> – krótki opis projektu, np. </a:t>
            </a:r>
            <a:r>
              <a:rPr lang="pl-PL" sz="1400" i="1" dirty="0"/>
              <a:t>"Platforma e-commerce zintegrowana z SAP ERP (zamówienia, ceny, stany magazynowe)"</a:t>
            </a:r>
            <a:r>
              <a:rPr lang="pl-PL" sz="1400" dirty="0"/>
              <a:t>.</a:t>
            </a:r>
          </a:p>
          <a:p>
            <a:pPr marL="74294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b="1" dirty="0" err="1"/>
              <a:t>Visibility</a:t>
            </a:r>
            <a:r>
              <a:rPr lang="pl-PL" sz="1400" dirty="0"/>
              <a:t> – </a:t>
            </a:r>
            <a:r>
              <a:rPr lang="pl-PL" sz="1400" dirty="0" err="1"/>
              <a:t>Private</a:t>
            </a:r>
            <a:r>
              <a:rPr lang="pl-PL" sz="1400" dirty="0"/>
              <a:t> (tylko dla członków zespołu) lub Public.</a:t>
            </a:r>
          </a:p>
          <a:p>
            <a:pPr marL="74294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l-PL" sz="1400" b="1" dirty="0" err="1"/>
              <a:t>Work</a:t>
            </a:r>
            <a:r>
              <a:rPr lang="pl-PL" sz="1400" b="1" dirty="0"/>
              <a:t> </a:t>
            </a:r>
            <a:r>
              <a:rPr lang="pl-PL" sz="1400" b="1" dirty="0" err="1"/>
              <a:t>item</a:t>
            </a:r>
            <a:r>
              <a:rPr lang="pl-PL" sz="1400" b="1" dirty="0"/>
              <a:t> </a:t>
            </a:r>
            <a:r>
              <a:rPr lang="pl-PL" sz="1400" b="1" dirty="0" err="1"/>
              <a:t>process</a:t>
            </a:r>
            <a:r>
              <a:rPr lang="pl-PL" sz="1400" dirty="0"/>
              <a:t> – wybierz </a:t>
            </a:r>
            <a:r>
              <a:rPr lang="pl-PL" sz="1400" b="1" dirty="0"/>
              <a:t>Agile</a:t>
            </a:r>
            <a:r>
              <a:rPr lang="pl-PL" sz="1400" dirty="0"/>
              <a:t> (najlepiej dopasowany do pracy ze </a:t>
            </a:r>
            <a:r>
              <a:rPr lang="pl-PL" sz="1400" dirty="0" err="1"/>
              <a:t>Scrumem</a:t>
            </a:r>
            <a:r>
              <a:rPr lang="pl-PL" sz="1400" dirty="0"/>
              <a:t>).</a:t>
            </a:r>
          </a:p>
          <a:p>
            <a:pPr marL="1200130" lvl="2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Agile – Work Item Types: Epic, Feature, User Story, Task</a:t>
            </a:r>
            <a:endParaRPr lang="pl-PL" sz="1400" b="1" dirty="0"/>
          </a:p>
          <a:p>
            <a:pPr marL="1200130" lvl="2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Scrum – Work Item Types: Epic, Feature, Product Backlog Item (PBI), Task</a:t>
            </a:r>
            <a:endParaRPr lang="pl-PL" sz="1400" dirty="0"/>
          </a:p>
          <a:p>
            <a:pPr marL="1200130" lvl="2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Basic – Work Item Types: Epic, Issue, Task</a:t>
            </a:r>
            <a:endParaRPr lang="pl-PL" sz="1400" dirty="0"/>
          </a:p>
          <a:p>
            <a:pPr marL="1200130" lvl="2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CMMI – Work Item Types: Epic, Feature, Requirement, Task</a:t>
            </a:r>
            <a:endParaRPr lang="pl-PL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 </a:t>
            </a:r>
            <a:r>
              <a:rPr lang="pl-PL" sz="1400" dirty="0"/>
              <a:t>Kliknij </a:t>
            </a:r>
            <a:r>
              <a:rPr lang="pl-PL" sz="1400" dirty="0" err="1"/>
              <a:t>Create</a:t>
            </a:r>
            <a:r>
              <a:rPr lang="pl-PL" sz="1400" dirty="0"/>
              <a:t> </a:t>
            </a:r>
            <a:r>
              <a:rPr lang="pl-PL" sz="1400" dirty="0" err="1"/>
              <a:t>project</a:t>
            </a:r>
            <a:r>
              <a:rPr lang="pl-PL" sz="1400" dirty="0"/>
              <a:t>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endParaRPr lang="pl-PL" sz="1400" dirty="0"/>
          </a:p>
          <a:p>
            <a:pPr>
              <a:spcBef>
                <a:spcPts val="600"/>
              </a:spcBef>
            </a:pP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3175024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72500" y="665999"/>
            <a:ext cx="6668634" cy="658303"/>
          </a:xfrm>
        </p:spPr>
        <p:txBody>
          <a:bodyPr/>
          <a:lstStyle/>
          <a:p>
            <a:r>
              <a:rPr lang="pl-PL" dirty="0" err="1"/>
              <a:t>Azur</a:t>
            </a:r>
            <a:r>
              <a:rPr lang="pl-PL" dirty="0"/>
              <a:t> </a:t>
            </a:r>
            <a:r>
              <a:rPr lang="pl-PL" dirty="0" err="1"/>
              <a:t>Devops</a:t>
            </a:r>
            <a:r>
              <a:rPr lang="pl-PL" dirty="0"/>
              <a:t> – Zespół</a:t>
            </a:r>
          </a:p>
        </p:txBody>
      </p:sp>
      <p:sp>
        <p:nvSpPr>
          <p:cNvPr id="8" name="Symbol zastępczy numeru slajdu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20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99716" y="1590253"/>
            <a:ext cx="878393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Zaloguj się na </a:t>
            </a:r>
            <a:r>
              <a:rPr lang="pl-PL" dirty="0">
                <a:hlinkClick r:id="rId2"/>
              </a:rPr>
              <a:t>https://dev.azure.com</a:t>
            </a:r>
            <a:endParaRPr lang="pl-PL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Przejdź do organizacji -&gt;Projektu-&gt; Project </a:t>
            </a:r>
            <a:r>
              <a:rPr lang="pl-PL" dirty="0" err="1"/>
              <a:t>Settings</a:t>
            </a:r>
            <a:r>
              <a:rPr lang="pl-PL" sz="1600" dirty="0"/>
              <a:t> w lewym dolnym rogu.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l-PL" sz="1600" dirty="0"/>
              <a:t>Wybierz </a:t>
            </a:r>
            <a:r>
              <a:rPr lang="pl-PL" sz="1600" dirty="0" err="1"/>
              <a:t>Teams</a:t>
            </a:r>
            <a:r>
              <a:rPr lang="pl-PL" sz="1600" dirty="0"/>
              <a:t> i </a:t>
            </a:r>
            <a:r>
              <a:rPr lang="pl-PL" sz="1600" dirty="0" err="1"/>
              <a:t>kliknin</a:t>
            </a:r>
            <a:r>
              <a:rPr lang="pl-PL" sz="1600" dirty="0"/>
              <a:t> nazwę swojego zespołu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l-PL" sz="1600" dirty="0"/>
              <a:t>Przejdź do sekcji </a:t>
            </a:r>
            <a:r>
              <a:rPr lang="pl-PL" sz="1600" b="1" dirty="0" err="1"/>
              <a:t>Members</a:t>
            </a:r>
            <a:r>
              <a:rPr lang="pl-PL" sz="1600" dirty="0"/>
              <a:t> 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l-PL" sz="1600" dirty="0"/>
              <a:t>Kliknij </a:t>
            </a:r>
            <a:r>
              <a:rPr lang="pl-PL" sz="1600" b="1" dirty="0" err="1"/>
              <a:t>Add</a:t>
            </a:r>
            <a:r>
              <a:rPr lang="pl-PL" sz="1600" dirty="0"/>
              <a:t> (Dodaj) i zacznij wpisywać adres e-mail lub nazwę nowo dodanego użytkownika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pl-PL" sz="1600" dirty="0" err="1"/>
              <a:t>Save</a:t>
            </a:r>
            <a:endParaRPr lang="pl-PL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13622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57CC-0154-BF5E-0167-5F98B1120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FC4378-C094-7C74-BB34-FCC6FC9C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0" y="665999"/>
            <a:ext cx="6668634" cy="658303"/>
          </a:xfrm>
        </p:spPr>
        <p:txBody>
          <a:bodyPr/>
          <a:lstStyle/>
          <a:p>
            <a:r>
              <a:rPr lang="pl-PL" dirty="0" err="1"/>
              <a:t>Wizjia</a:t>
            </a:r>
            <a:r>
              <a:rPr lang="pl-PL" dirty="0"/>
              <a:t> Produktu</a:t>
            </a:r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:a16="http://schemas.microsoft.com/office/drawing/2014/main" id="{B09A3877-BD75-2D7F-B912-DC5A38BF394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21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0002F616-A5F1-E596-55BD-BBB38E5D34B2}"/>
              </a:ext>
            </a:extLst>
          </p:cNvPr>
          <p:cNvSpPr/>
          <p:nvPr/>
        </p:nvSpPr>
        <p:spPr>
          <a:xfrm>
            <a:off x="194441" y="1539453"/>
            <a:ext cx="837148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pl-PL" sz="2000" dirty="0"/>
              <a:t>Najbardziej popularnym i efektywnym narzędziem do formułowania Wizji Produktu jest szablon autorstwa </a:t>
            </a:r>
            <a:r>
              <a:rPr lang="pl-PL" sz="2000" dirty="0" err="1"/>
              <a:t>Geoffrey'a</a:t>
            </a:r>
            <a:r>
              <a:rPr lang="pl-PL" sz="2000" dirty="0"/>
              <a:t> Moore’a:</a:t>
            </a:r>
          </a:p>
          <a:p>
            <a:pPr marL="0" lvl="1">
              <a:spcBef>
                <a:spcPts val="600"/>
              </a:spcBef>
            </a:pPr>
            <a:endParaRPr lang="pl-PL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692B5AC-556E-3447-27F3-4B03632AB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122792"/>
              </p:ext>
            </p:extLst>
          </p:nvPr>
        </p:nvGraphicFramePr>
        <p:xfrm>
          <a:off x="679230" y="2656519"/>
          <a:ext cx="7886700" cy="32004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027503797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88327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1"/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1" dirty="0"/>
                        <a:t>Pytanie Kontrolne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830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1" dirty="0"/>
                        <a:t>Dla:</a:t>
                      </a:r>
                      <a:endParaRPr lang="pl-PL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0"/>
                        <a:t>(Rynek Docelowy)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986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1" dirty="0"/>
                        <a:t>Który/Którzy:</a:t>
                      </a:r>
                      <a:endParaRPr lang="pl-PL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0"/>
                        <a:t>(Określają Potrzebę/Problem)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663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1"/>
                        <a:t>Produkt:</a:t>
                      </a:r>
                      <a:endParaRPr lang="pl-PL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0"/>
                        <a:t>(Nazwa Produktu)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180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1"/>
                        <a:t>Jest to:</a:t>
                      </a:r>
                      <a:endParaRPr lang="pl-PL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0"/>
                        <a:t>(Kategoria Produktu)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277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1"/>
                        <a:t>Który/Który:</a:t>
                      </a:r>
                      <a:endParaRPr lang="pl-PL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0" dirty="0"/>
                        <a:t>(Kluczowa Korzyść)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37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1"/>
                        <a:t>W odróżnieniu od:</a:t>
                      </a:r>
                      <a:endParaRPr lang="pl-PL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0"/>
                        <a:t>(Alternatywne Rozwiązanie/Konkurencja)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335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1"/>
                        <a:t>Nasz produkt:</a:t>
                      </a:r>
                      <a:endParaRPr lang="pl-PL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b="0" dirty="0"/>
                        <a:t>(Kluczowa Różnica/Przewaga)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117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125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D9FE8-B15D-EC3B-0725-CA809A08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86E4F2-DD1E-AE25-0769-927D3DE20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0" y="665999"/>
            <a:ext cx="6668634" cy="658303"/>
          </a:xfrm>
        </p:spPr>
        <p:txBody>
          <a:bodyPr/>
          <a:lstStyle/>
          <a:p>
            <a:r>
              <a:rPr lang="pl-PL" dirty="0" err="1"/>
              <a:t>Wizjia</a:t>
            </a:r>
            <a:r>
              <a:rPr lang="pl-PL" dirty="0"/>
              <a:t> Produktu</a:t>
            </a:r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:a16="http://schemas.microsoft.com/office/drawing/2014/main" id="{1E5E8831-EC4F-9CC8-ACEE-CD87991DD09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22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A1FC8FB8-E785-E0C5-17C0-340ECC07FA7D}"/>
              </a:ext>
            </a:extLst>
          </p:cNvPr>
          <p:cNvSpPr/>
          <p:nvPr/>
        </p:nvSpPr>
        <p:spPr>
          <a:xfrm>
            <a:off x="194441" y="1539453"/>
            <a:ext cx="837148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pl-PL" sz="2000" dirty="0"/>
              <a:t>Najbardziej popularnym i efektywnym narzędziem do formułowania Wizji Produktu jest szablon autorstwa </a:t>
            </a:r>
            <a:r>
              <a:rPr lang="pl-PL" sz="2000" dirty="0" err="1"/>
              <a:t>Geoffrey'a</a:t>
            </a:r>
            <a:r>
              <a:rPr lang="pl-PL" sz="2000" dirty="0"/>
              <a:t> Moore’a:</a:t>
            </a:r>
          </a:p>
          <a:p>
            <a:pPr marL="0" lvl="1">
              <a:spcBef>
                <a:spcPts val="600"/>
              </a:spcBef>
            </a:pPr>
            <a:endParaRPr lang="pl-PL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F0D473E-5F10-259C-C001-495C1B8C8F76}"/>
              </a:ext>
            </a:extLst>
          </p:cNvPr>
          <p:cNvSpPr txBox="1"/>
          <p:nvPr/>
        </p:nvSpPr>
        <p:spPr>
          <a:xfrm>
            <a:off x="1285461" y="2671746"/>
            <a:ext cx="64471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Dla</a:t>
            </a:r>
            <a:r>
              <a:rPr lang="pl-PL" dirty="0"/>
              <a:t> </a:t>
            </a:r>
            <a:r>
              <a:rPr lang="pl-PL" i="1" dirty="0"/>
              <a:t>naszych kluczowych klientów B2B i indywidualnych konsumentów w regionie CEE</a:t>
            </a:r>
            <a:r>
              <a:rPr lang="pl-PL" dirty="0"/>
              <a:t>, </a:t>
            </a:r>
          </a:p>
          <a:p>
            <a:r>
              <a:rPr lang="pl-PL" b="1" dirty="0"/>
              <a:t>Którzy</a:t>
            </a:r>
            <a:r>
              <a:rPr lang="pl-PL" dirty="0"/>
              <a:t> </a:t>
            </a:r>
            <a:r>
              <a:rPr lang="pl-PL" i="1" dirty="0"/>
              <a:t>wymagają szybkiego dostępu do aktualnych cen i statusów zamówień 24/7</a:t>
            </a:r>
            <a:r>
              <a:rPr lang="pl-PL" dirty="0"/>
              <a:t>, </a:t>
            </a:r>
          </a:p>
          <a:p>
            <a:r>
              <a:rPr lang="pl-PL" b="1" dirty="0"/>
              <a:t>Produkt</a:t>
            </a:r>
            <a:r>
              <a:rPr lang="pl-PL" dirty="0"/>
              <a:t> </a:t>
            </a:r>
            <a:r>
              <a:rPr lang="pl-PL" i="1" dirty="0"/>
              <a:t>Platforma </a:t>
            </a:r>
            <a:r>
              <a:rPr lang="pl-PL" i="1" dirty="0" err="1"/>
              <a:t>NextGen</a:t>
            </a:r>
            <a:r>
              <a:rPr lang="pl-PL" i="1" dirty="0"/>
              <a:t> E-commerce</a:t>
            </a:r>
            <a:r>
              <a:rPr lang="pl-PL" dirty="0"/>
              <a:t> </a:t>
            </a:r>
          </a:p>
          <a:p>
            <a:r>
              <a:rPr lang="pl-PL" b="1" dirty="0"/>
              <a:t>Jest to</a:t>
            </a:r>
            <a:r>
              <a:rPr lang="pl-PL" dirty="0"/>
              <a:t> </a:t>
            </a:r>
            <a:r>
              <a:rPr lang="pl-PL" i="1" dirty="0"/>
              <a:t>w pełni zintegrowana z SAP, samoobsługowa platforma transakcyjna</a:t>
            </a:r>
            <a:r>
              <a:rPr lang="pl-PL" dirty="0"/>
              <a:t>, </a:t>
            </a:r>
          </a:p>
          <a:p>
            <a:r>
              <a:rPr lang="pl-PL" b="1" dirty="0"/>
              <a:t>Która</a:t>
            </a:r>
            <a:r>
              <a:rPr lang="pl-PL" dirty="0"/>
              <a:t> </a:t>
            </a:r>
            <a:r>
              <a:rPr lang="pl-PL" i="1" dirty="0"/>
              <a:t>zapewnia bezbłędne i natychmiastowe przetwarzanie zamówień</a:t>
            </a:r>
            <a:r>
              <a:rPr lang="pl-PL" dirty="0"/>
              <a:t>, </a:t>
            </a:r>
          </a:p>
          <a:p>
            <a:r>
              <a:rPr lang="pl-PL" b="1" dirty="0"/>
              <a:t>W odróżnieniu od</a:t>
            </a:r>
            <a:r>
              <a:rPr lang="pl-PL" dirty="0"/>
              <a:t> </a:t>
            </a:r>
            <a:r>
              <a:rPr lang="pl-PL" i="1" dirty="0"/>
              <a:t>obecnego, powolnego portalu z ręczną synchronizacją</a:t>
            </a:r>
            <a:r>
              <a:rPr lang="pl-PL" dirty="0"/>
              <a:t>, </a:t>
            </a:r>
          </a:p>
          <a:p>
            <a:r>
              <a:rPr lang="pl-PL" b="1" dirty="0"/>
              <a:t>Nasz produkt</a:t>
            </a:r>
            <a:r>
              <a:rPr lang="pl-PL" dirty="0"/>
              <a:t> </a:t>
            </a:r>
            <a:r>
              <a:rPr lang="pl-PL" i="1" dirty="0"/>
              <a:t>drastycznie zredukuje koszty obsługi zamówień (o 20%) i zwiększy wskaźnik konwersji (o 10%) w ciągu 18 miesięcy.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29842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72500" y="659373"/>
            <a:ext cx="6668634" cy="658303"/>
          </a:xfrm>
        </p:spPr>
        <p:txBody>
          <a:bodyPr/>
          <a:lstStyle/>
          <a:p>
            <a:r>
              <a:rPr lang="pl-PL" b="1" dirty="0"/>
              <a:t>Dodanie Wizji Produktu do Wiki</a:t>
            </a:r>
            <a:endParaRPr lang="pl-PL" dirty="0"/>
          </a:p>
        </p:txBody>
      </p:sp>
      <p:sp>
        <p:nvSpPr>
          <p:cNvPr id="8" name="Symbol zastępczy numeru slajdu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pl-PL" smtClean="0">
                <a:solidFill>
                  <a:srgbClr val="141E50"/>
                </a:solidFill>
              </a:rPr>
              <a:pPr/>
              <a:t>23</a:t>
            </a:fld>
            <a:endParaRPr lang="pl-PL" dirty="0">
              <a:solidFill>
                <a:srgbClr val="141E50"/>
              </a:solidFill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194441" y="1539453"/>
            <a:ext cx="8371489" cy="2416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Studenci wypełniają szablon w  grupach, następnie:</a:t>
            </a:r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Wejdź do projektu i w lewym menu wybierz Wiki.</a:t>
            </a:r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Kliknij </a:t>
            </a:r>
            <a:r>
              <a:rPr lang="pl-PL" dirty="0" err="1"/>
              <a:t>Create</a:t>
            </a:r>
            <a:r>
              <a:rPr lang="pl-PL" dirty="0"/>
              <a:t> Project Wiki.</a:t>
            </a:r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Utwórz stronę główną z nagłówkiem i dodaj </a:t>
            </a:r>
            <a:r>
              <a:rPr lang="pl-PL" b="1" dirty="0"/>
              <a:t> „</a:t>
            </a:r>
            <a:r>
              <a:rPr lang="pl-PL" b="1" dirty="0" err="1"/>
              <a:t>Wizjia</a:t>
            </a:r>
            <a:r>
              <a:rPr lang="pl-PL" b="1" dirty="0"/>
              <a:t> Produktu” </a:t>
            </a:r>
            <a:endParaRPr lang="pl-PL" dirty="0"/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Zapisz stronę (przycisk </a:t>
            </a:r>
            <a:r>
              <a:rPr lang="pl-PL" dirty="0" err="1"/>
              <a:t>Publish</a:t>
            </a:r>
            <a:r>
              <a:rPr lang="pl-PL" dirty="0"/>
              <a:t>).</a:t>
            </a:r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pl-PL" dirty="0"/>
              <a:t>Możesz dodawać kolejne podstrony np. </a:t>
            </a:r>
            <a:r>
              <a:rPr lang="pl-PL" dirty="0" err="1"/>
              <a:t>Backlog</a:t>
            </a:r>
            <a:r>
              <a:rPr lang="pl-PL" dirty="0"/>
              <a:t>, Integracja z ERP, Architektura systemu.</a:t>
            </a:r>
          </a:p>
        </p:txBody>
      </p:sp>
    </p:spTree>
    <p:extLst>
      <p:ext uri="{BB962C8B-B14F-4D97-AF65-F5344CB8AC3E}">
        <p14:creationId xmlns:p14="http://schemas.microsoft.com/office/powerpoint/2010/main" val="313371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MERITO-kolory_PPT">
      <a:dk1>
        <a:srgbClr val="141E50"/>
      </a:dk1>
      <a:lt1>
        <a:srgbClr val="FFFFFF"/>
      </a:lt1>
      <a:dk2>
        <a:srgbClr val="141E50"/>
      </a:dk2>
      <a:lt2>
        <a:srgbClr val="FFFFFF"/>
      </a:lt2>
      <a:accent1>
        <a:srgbClr val="006EFA"/>
      </a:accent1>
      <a:accent2>
        <a:srgbClr val="23BEFF"/>
      </a:accent2>
      <a:accent3>
        <a:srgbClr val="91DEFF"/>
      </a:accent3>
      <a:accent4>
        <a:srgbClr val="3CDC7D"/>
      </a:accent4>
      <a:accent5>
        <a:srgbClr val="FF9505"/>
      </a:accent5>
      <a:accent6>
        <a:srgbClr val="EB285A"/>
      </a:accent6>
      <a:hlink>
        <a:srgbClr val="0000FF"/>
      </a:hlink>
      <a:folHlink>
        <a:srgbClr val="800080"/>
      </a:folHlink>
    </a:clrScheme>
    <a:fontScheme name="MERITO-Fonty_PPT">
      <a:majorFont>
        <a:latin typeface="Inter Black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5322007_MERITO_PPT-Pryzmat-K-v24-Warszawa.potx" id="{5C9B9204-2221-4274-95B0-66BBE71F316A}" vid="{D79EA454-9F51-4648-A562-B6309597C6BE}"/>
    </a:ext>
  </a:extLst>
</a:theme>
</file>

<file path=ppt/theme/themeOverride1.xml><?xml version="1.0" encoding="utf-8"?>
<a:themeOverride xmlns:a="http://schemas.openxmlformats.org/drawingml/2006/main">
  <a:clrScheme name="MERITO-kolory_PPT">
    <a:dk1>
      <a:srgbClr val="141E50"/>
    </a:dk1>
    <a:lt1>
      <a:srgbClr val="FFFFFF"/>
    </a:lt1>
    <a:dk2>
      <a:srgbClr val="141E50"/>
    </a:dk2>
    <a:lt2>
      <a:srgbClr val="FFFFFF"/>
    </a:lt2>
    <a:accent1>
      <a:srgbClr val="006EFA"/>
    </a:accent1>
    <a:accent2>
      <a:srgbClr val="23BEFF"/>
    </a:accent2>
    <a:accent3>
      <a:srgbClr val="91DEFF"/>
    </a:accent3>
    <a:accent4>
      <a:srgbClr val="3CDC7D"/>
    </a:accent4>
    <a:accent5>
      <a:srgbClr val="FF9505"/>
    </a:accent5>
    <a:accent6>
      <a:srgbClr val="EB285A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MERITO-kolory_PPT">
    <a:dk1>
      <a:srgbClr val="141E50"/>
    </a:dk1>
    <a:lt1>
      <a:srgbClr val="FFFFFF"/>
    </a:lt1>
    <a:dk2>
      <a:srgbClr val="141E50"/>
    </a:dk2>
    <a:lt2>
      <a:srgbClr val="FFFFFF"/>
    </a:lt2>
    <a:accent1>
      <a:srgbClr val="006EFA"/>
    </a:accent1>
    <a:accent2>
      <a:srgbClr val="23BEFF"/>
    </a:accent2>
    <a:accent3>
      <a:srgbClr val="91DEFF"/>
    </a:accent3>
    <a:accent4>
      <a:srgbClr val="3CDC7D"/>
    </a:accent4>
    <a:accent5>
      <a:srgbClr val="FF9505"/>
    </a:accent5>
    <a:accent6>
      <a:srgbClr val="EB285A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3610</TotalTime>
  <Words>2255</Words>
  <Application>Microsoft Office PowerPoint</Application>
  <PresentationFormat>Pokaz na ekranie (4:3)</PresentationFormat>
  <Paragraphs>441</Paragraphs>
  <Slides>23</Slides>
  <Notes>0</Notes>
  <HiddenSlides>0</HiddenSlides>
  <MMClips>0</MMClips>
  <ScaleCrop>false</ScaleCrop>
  <HeadingPairs>
    <vt:vector size="8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2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23</vt:i4>
      </vt:variant>
    </vt:vector>
  </HeadingPairs>
  <TitlesOfParts>
    <vt:vector size="32" baseType="lpstr">
      <vt:lpstr>Arial</vt:lpstr>
      <vt:lpstr>Calibri</vt:lpstr>
      <vt:lpstr>Cambria Math</vt:lpstr>
      <vt:lpstr>Inter</vt:lpstr>
      <vt:lpstr>Inter Medium</vt:lpstr>
      <vt:lpstr>Wingdings</vt:lpstr>
      <vt:lpstr>Office Theme</vt:lpstr>
      <vt:lpstr>1_Office Theme</vt:lpstr>
      <vt:lpstr>Obiekt powłoki pakowarki</vt:lpstr>
      <vt:lpstr>Zarządzanie projektami informatycznymi (ZPI) –  Laboratoria 1 - Wprowadzenie do projektów IT </vt:lpstr>
      <vt:lpstr>Witam</vt:lpstr>
      <vt:lpstr>Agenda</vt:lpstr>
      <vt:lpstr>Zasady zaliczenia</vt:lpstr>
      <vt:lpstr>Organizacyjne</vt:lpstr>
      <vt:lpstr>Karta Przedmiotu i plan zajęć</vt:lpstr>
      <vt:lpstr>Sesja burzy mózgów</vt:lpstr>
      <vt:lpstr>Czym jest projekt wg PMI</vt:lpstr>
      <vt:lpstr>Projekty vs procesy</vt:lpstr>
      <vt:lpstr>Triada ograniczeń projektu </vt:lpstr>
      <vt:lpstr>Triada ograniczeń projektu </vt:lpstr>
      <vt:lpstr>Rodzaje projektów</vt:lpstr>
      <vt:lpstr>Ewolucja podejść zarządzania projektami IT</vt:lpstr>
      <vt:lpstr>Tradycyjne podejście (Waterfall)</vt:lpstr>
      <vt:lpstr>Manifest Agile (Agile Manifesto)</vt:lpstr>
      <vt:lpstr>Podejście Zwinne - Agile</vt:lpstr>
      <vt:lpstr>Charakterystyka metodyki SCRUM</vt:lpstr>
      <vt:lpstr>Role w SCRUM</vt:lpstr>
      <vt:lpstr>Azur Devops – tworzenie konta</vt:lpstr>
      <vt:lpstr>Azur Devops – Zespół</vt:lpstr>
      <vt:lpstr>Wizjia Produktu</vt:lpstr>
      <vt:lpstr>Wizjia Produktu</vt:lpstr>
      <vt:lpstr>Dodanie Wizji Produktu do Wiki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Zarządzanie projektami informatycznymi (ZPI)</dc:title>
  <dc:creator>Olek Rewak</dc:creator>
  <dc:description>generated using python-pptx</dc:description>
  <cp:lastModifiedBy>Aleksander Rewak</cp:lastModifiedBy>
  <cp:revision>122</cp:revision>
  <dcterms:created xsi:type="dcterms:W3CDTF">2013-01-27T09:14:16Z</dcterms:created>
  <dcterms:modified xsi:type="dcterms:W3CDTF">2025-10-16T11:58:25Z</dcterms:modified>
</cp:coreProperties>
</file>